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4" r:id="rId5"/>
    <p:sldId id="265" r:id="rId6"/>
    <p:sldId id="263" r:id="rId7"/>
    <p:sldId id="266" r:id="rId8"/>
    <p:sldId id="267" r:id="rId9"/>
    <p:sldId id="268" r:id="rId10"/>
    <p:sldId id="269" r:id="rId11"/>
    <p:sldId id="290" r:id="rId12"/>
    <p:sldId id="291" r:id="rId13"/>
    <p:sldId id="292" r:id="rId14"/>
    <p:sldId id="270" r:id="rId15"/>
    <p:sldId id="271" r:id="rId16"/>
    <p:sldId id="273" r:id="rId17"/>
    <p:sldId id="272" r:id="rId18"/>
    <p:sldId id="274" r:id="rId19"/>
    <p:sldId id="276" r:id="rId20"/>
    <p:sldId id="277" r:id="rId21"/>
    <p:sldId id="278" r:id="rId22"/>
    <p:sldId id="279" r:id="rId23"/>
    <p:sldId id="28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46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11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8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6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55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0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96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1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36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74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929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315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077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483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12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2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E5868-B09B-42BD-A35C-CD6D12B6522E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449D02-FDFE-4235-A89B-E0D77617D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94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lip-flop_(electronics)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COUNTERS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6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95275"/>
            <a:ext cx="8596668" cy="90487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sz="4400" dirty="0"/>
              <a:t> </a:t>
            </a:r>
            <a:r>
              <a:rPr lang="en-IN" sz="4400" dirty="0" smtClean="0"/>
              <a:t>                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5925"/>
            <a:ext cx="8596668" cy="4355437"/>
          </a:xfrm>
        </p:spPr>
        <p:txBody>
          <a:bodyPr>
            <a:normAutofit/>
          </a:bodyPr>
          <a:lstStyle/>
          <a:p>
            <a:r>
              <a:rPr lang="en-US" dirty="0"/>
              <a:t>Counter is a sequential </a:t>
            </a:r>
            <a:r>
              <a:rPr lang="en-US" dirty="0" smtClean="0"/>
              <a:t>circuit which </a:t>
            </a:r>
            <a:r>
              <a:rPr lang="en-US" dirty="0"/>
              <a:t>is used for </a:t>
            </a:r>
            <a:r>
              <a:rPr lang="en-US" dirty="0" smtClean="0"/>
              <a:t>counting pulses.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Counter is the widest application of flip-flops. It is a group of flip-flops with a clock signal applied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Counters are of two </a:t>
            </a:r>
            <a:r>
              <a:rPr lang="en-US" dirty="0" smtClean="0"/>
              <a:t>types:</a:t>
            </a:r>
          </a:p>
          <a:p>
            <a:pPr marL="728662" indent="-285750">
              <a:buFont typeface="Wingdings" panose="05000000000000000000" pitchFamily="2" charset="2"/>
              <a:buChar char="§"/>
              <a:tabLst>
                <a:tab pos="542925" algn="l"/>
              </a:tabLst>
            </a:pP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Asynchronous  or Ripple Counters</a:t>
            </a:r>
          </a:p>
          <a:p>
            <a:pPr marL="728662" indent="-285750">
              <a:buFont typeface="Wingdings" panose="05000000000000000000" pitchFamily="2" charset="2"/>
              <a:buChar char="§"/>
              <a:tabLst>
                <a:tab pos="542925" algn="l"/>
              </a:tabLst>
            </a:pPr>
            <a:r>
              <a:rPr lang="en-US" dirty="0">
                <a:solidFill>
                  <a:srgbClr val="FF0000"/>
                </a:solidFill>
              </a:rPr>
              <a:t>Synchronous Counters</a:t>
            </a:r>
          </a:p>
          <a:p>
            <a:endParaRPr lang="en-US" dirty="0"/>
          </a:p>
          <a:p>
            <a:r>
              <a:rPr lang="en-US" dirty="0"/>
              <a:t>The number of flip-flops determines the count limit or number of </a:t>
            </a:r>
            <a:r>
              <a:rPr lang="en-US" dirty="0" smtClean="0"/>
              <a:t>states</a:t>
            </a:r>
            <a:endParaRPr lang="en-IN" dirty="0"/>
          </a:p>
          <a:p>
            <a:pPr marL="0" indent="0">
              <a:buNone/>
            </a:pPr>
            <a:r>
              <a:rPr lang="en-US" b="1" dirty="0" smtClean="0"/>
              <a:t>                                     </a:t>
            </a:r>
            <a:r>
              <a:rPr lang="en-US" b="1" dirty="0" smtClean="0">
                <a:solidFill>
                  <a:srgbClr val="FF0000"/>
                </a:solidFill>
              </a:rPr>
              <a:t>States </a:t>
            </a:r>
            <a:r>
              <a:rPr lang="en-US" b="1" dirty="0">
                <a:solidFill>
                  <a:srgbClr val="FF0000"/>
                </a:solidFill>
              </a:rPr>
              <a:t>= 2 </a:t>
            </a:r>
            <a:r>
              <a:rPr lang="en-US" b="1" baseline="30000" dirty="0">
                <a:solidFill>
                  <a:srgbClr val="FF0000"/>
                </a:solidFill>
              </a:rPr>
              <a:t>( no of flip-flops)</a:t>
            </a:r>
            <a:endParaRPr lang="en-IN" b="1" dirty="0">
              <a:solidFill>
                <a:srgbClr val="FF0000"/>
              </a:solidFill>
            </a:endParaRPr>
          </a:p>
          <a:p>
            <a:endParaRPr lang="en-US" b="1" dirty="0" smtClean="0"/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6702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0200"/>
            <a:ext cx="9038166" cy="4929187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The number of states used is called the </a:t>
            </a:r>
            <a:r>
              <a:rPr lang="en-US" b="1" dirty="0" smtClean="0">
                <a:solidFill>
                  <a:srgbClr val="FF0000"/>
                </a:solidFill>
              </a:rPr>
              <a:t>MODULUS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or MOD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US" dirty="0"/>
              <a:t>For example, a </a:t>
            </a:r>
            <a:r>
              <a:rPr lang="en-US" dirty="0">
                <a:solidFill>
                  <a:srgbClr val="FF0000"/>
                </a:solidFill>
              </a:rPr>
              <a:t>Modulus-12 counter (Mod-12)</a:t>
            </a:r>
            <a:r>
              <a:rPr lang="en-US" dirty="0"/>
              <a:t> would count from </a:t>
            </a:r>
            <a:r>
              <a:rPr lang="en-US" dirty="0">
                <a:solidFill>
                  <a:srgbClr val="FF0000"/>
                </a:solidFill>
              </a:rPr>
              <a:t>0 (0000) to 11 (1011)</a:t>
            </a:r>
            <a:r>
              <a:rPr lang="en-US" dirty="0"/>
              <a:t> and would require four flip-flops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= 16 states;</a:t>
            </a:r>
            <a:r>
              <a:rPr lang="en-US" dirty="0"/>
              <a:t> 12 are used</a:t>
            </a:r>
            <a:r>
              <a:rPr lang="en-US" dirty="0" smtClean="0"/>
              <a:t>)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US" b="1" dirty="0">
                <a:solidFill>
                  <a:srgbClr val="FF0000"/>
                </a:solidFill>
              </a:rPr>
              <a:t>Asynchronous or ripple counters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the first flip-flop is clocked by the external clock pulse, and then each successive flip-flop is clocked by the Q or Q' output of the previous flip-flop</a:t>
            </a:r>
            <a:r>
              <a:rPr lang="en-US" dirty="0" smtClean="0"/>
              <a:t>.</a:t>
            </a:r>
          </a:p>
          <a:p>
            <a:pPr marL="0" lvl="0" indent="0">
              <a:buNone/>
            </a:pPr>
            <a:endParaRPr lang="en-IN" dirty="0"/>
          </a:p>
          <a:p>
            <a:r>
              <a:rPr lang="en-US" b="1" dirty="0">
                <a:solidFill>
                  <a:srgbClr val="FF0000"/>
                </a:solidFill>
              </a:rPr>
              <a:t>Synchronous counters:</a:t>
            </a:r>
            <a:r>
              <a:rPr lang="en-US" b="1" dirty="0"/>
              <a:t> </a:t>
            </a:r>
            <a:r>
              <a:rPr lang="en-US" dirty="0"/>
              <a:t>all memory elements are simultaneously triggered by the same clock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>
                <a:solidFill>
                  <a:srgbClr val="FF0000"/>
                </a:solidFill>
              </a:rPr>
              <a:t>Asynchronous</a:t>
            </a:r>
            <a:r>
              <a:rPr lang="en-IN" dirty="0"/>
              <a:t> counters are </a:t>
            </a:r>
            <a:r>
              <a:rPr lang="en-IN" dirty="0">
                <a:solidFill>
                  <a:srgbClr val="FF0000"/>
                </a:solidFill>
              </a:rPr>
              <a:t>slower</a:t>
            </a:r>
            <a:r>
              <a:rPr lang="en-IN" dirty="0"/>
              <a:t> than synchronous counters because of the delay in the transmission of the pulses from flip-flop to flip-flop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62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3039"/>
            <a:ext cx="8596668" cy="5014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Based on their circuitry design, the counters are classified into the following types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>
                <a:solidFill>
                  <a:srgbClr val="FF0000"/>
                </a:solidFill>
              </a:rPr>
              <a:t>Up Counter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The up-counter counts the states in ascending order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Down </a:t>
            </a:r>
            <a:r>
              <a:rPr lang="en-IN" b="1" dirty="0" smtClean="0">
                <a:solidFill>
                  <a:srgbClr val="FF0000"/>
                </a:solidFill>
              </a:rPr>
              <a:t>Counter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The down counter counts the states in descending order.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Up-Down </a:t>
            </a:r>
            <a:r>
              <a:rPr lang="en-IN" b="1" dirty="0" smtClean="0">
                <a:solidFill>
                  <a:srgbClr val="FF0000"/>
                </a:solidFill>
              </a:rPr>
              <a:t>Counter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 smtClean="0"/>
              <a:t>The up and down counter is a special type of bi-directional counter which counts the states either in the forward direction or reverse direction. It also refers to a reversible counter.</a:t>
            </a:r>
          </a:p>
          <a:p>
            <a:pPr marL="0" indent="0">
              <a:buNone/>
            </a:pPr>
            <a:endParaRPr lang="en-IN" dirty="0"/>
          </a:p>
          <a:p>
            <a:pPr marL="271463" indent="-271463">
              <a:tabLst>
                <a:tab pos="628650" algn="l"/>
              </a:tabLst>
            </a:pPr>
            <a:r>
              <a:rPr lang="en-IN" dirty="0" smtClean="0"/>
              <a:t>The </a:t>
            </a:r>
            <a:r>
              <a:rPr lang="en-IN" dirty="0"/>
              <a:t>count sequence usually repeats </a:t>
            </a:r>
            <a:r>
              <a:rPr lang="en-IN" dirty="0" smtClean="0"/>
              <a:t>itself.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02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4463"/>
            <a:ext cx="8596668" cy="4700587"/>
          </a:xfrm>
        </p:spPr>
        <p:txBody>
          <a:bodyPr>
            <a:normAutofit/>
          </a:bodyPr>
          <a:lstStyle/>
          <a:p>
            <a:r>
              <a:rPr lang="en-IN" dirty="0" err="1"/>
              <a:t>Eg</a:t>
            </a:r>
            <a:r>
              <a:rPr lang="en-IN" dirty="0"/>
              <a:t>: </a:t>
            </a:r>
            <a:r>
              <a:rPr lang="en-IN" b="1" dirty="0">
                <a:solidFill>
                  <a:srgbClr val="FF0000"/>
                </a:solidFill>
              </a:rPr>
              <a:t>4-bit Counter or Mod 16 counter</a:t>
            </a:r>
          </a:p>
          <a:p>
            <a:endParaRPr lang="en-IN" dirty="0"/>
          </a:p>
          <a:p>
            <a:r>
              <a:rPr lang="en-IN" dirty="0"/>
              <a:t>When counting up, the count sequence goes from 0000, 0001, 0010, ... 1110 , 1111 , 0000, 0001, ... etc. </a:t>
            </a:r>
          </a:p>
          <a:p>
            <a:endParaRPr lang="en-IN" dirty="0"/>
          </a:p>
          <a:p>
            <a:r>
              <a:rPr lang="en-IN" dirty="0"/>
              <a:t>When counting down the count sequence goes in the opposite manner: 1111, 1110, ... 0010, 0001, 0000, 1111, 1110, ... </a:t>
            </a:r>
            <a:r>
              <a:rPr lang="en-IN" dirty="0" smtClean="0"/>
              <a:t>Etc.</a:t>
            </a:r>
          </a:p>
          <a:p>
            <a:endParaRPr lang="en-IN" dirty="0"/>
          </a:p>
          <a:p>
            <a:r>
              <a:rPr lang="en-IN" dirty="0" smtClean="0">
                <a:solidFill>
                  <a:srgbClr val="FF0000"/>
                </a:solidFill>
              </a:rPr>
              <a:t>JK or T flip-flops </a:t>
            </a:r>
            <a:r>
              <a:rPr lang="en-IN" dirty="0" smtClean="0"/>
              <a:t>are usually used for constructing counters.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64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Asynchronous/Ripple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3075"/>
            <a:ext cx="8596668" cy="4298287"/>
          </a:xfrm>
        </p:spPr>
        <p:txBody>
          <a:bodyPr/>
          <a:lstStyle/>
          <a:p>
            <a:r>
              <a:rPr lang="en-IN" dirty="0" smtClean="0"/>
              <a:t>Only </a:t>
            </a:r>
            <a:r>
              <a:rPr lang="en-IN" dirty="0"/>
              <a:t>the first flip-flop is clocked by an external clock. 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All </a:t>
            </a:r>
            <a:r>
              <a:rPr lang="en-IN" dirty="0"/>
              <a:t>subsequent flip-flops are clocked by the output of the preceding flip-flop. 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>
                <a:solidFill>
                  <a:srgbClr val="FF0000"/>
                </a:solidFill>
              </a:rPr>
              <a:t>Asynchronous </a:t>
            </a:r>
            <a:r>
              <a:rPr lang="en-IN" dirty="0">
                <a:solidFill>
                  <a:srgbClr val="FF0000"/>
                </a:solidFill>
              </a:rPr>
              <a:t>counters</a:t>
            </a:r>
            <a:r>
              <a:rPr lang="en-IN" dirty="0"/>
              <a:t> are also called </a:t>
            </a:r>
            <a:r>
              <a:rPr lang="en-IN" dirty="0">
                <a:solidFill>
                  <a:srgbClr val="FF0000"/>
                </a:solidFill>
              </a:rPr>
              <a:t>ripple-counters</a:t>
            </a:r>
            <a:r>
              <a:rPr lang="en-IN" dirty="0"/>
              <a:t> because of the way the clock pulse ripples </a:t>
            </a:r>
            <a:r>
              <a:rPr lang="en-IN" dirty="0" smtClean="0"/>
              <a:t>its </a:t>
            </a:r>
            <a:r>
              <a:rPr lang="en-IN" dirty="0" smtClean="0"/>
              <a:t>way </a:t>
            </a:r>
            <a:r>
              <a:rPr lang="en-IN" dirty="0"/>
              <a:t>through the </a:t>
            </a:r>
            <a:r>
              <a:rPr lang="en-IN" dirty="0" smtClean="0"/>
              <a:t>flip-flops.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dirty="0">
                <a:solidFill>
                  <a:srgbClr val="FF0000"/>
                </a:solidFill>
              </a:rPr>
              <a:t>MOD</a:t>
            </a:r>
            <a:r>
              <a:rPr lang="en-IN" dirty="0"/>
              <a:t> of the ripple counter or asynchronous counter is </a:t>
            </a:r>
            <a:r>
              <a:rPr lang="en-IN" dirty="0">
                <a:solidFill>
                  <a:srgbClr val="FF0000"/>
                </a:solidFill>
              </a:rPr>
              <a:t>2</a:t>
            </a:r>
            <a:r>
              <a:rPr lang="en-IN" baseline="30000" dirty="0">
                <a:solidFill>
                  <a:srgbClr val="FF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if </a:t>
            </a:r>
            <a:r>
              <a:rPr lang="en-IN" dirty="0">
                <a:solidFill>
                  <a:srgbClr val="FF0000"/>
                </a:solidFill>
              </a:rPr>
              <a:t>n</a:t>
            </a:r>
            <a:r>
              <a:rPr lang="en-IN" dirty="0"/>
              <a:t> flip-flops are </a:t>
            </a:r>
            <a:r>
              <a:rPr lang="en-IN" dirty="0" smtClean="0"/>
              <a:t>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82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2-bit Ripple Counter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Complimenting Flip-flops are used .</a:t>
            </a:r>
          </a:p>
          <a:p>
            <a:r>
              <a:rPr lang="en-IN" dirty="0" smtClean="0"/>
              <a:t>They are obtained with J and K  i/p’s tied together or a T flip-flop</a:t>
            </a:r>
            <a:r>
              <a:rPr lang="en-IN" dirty="0" smtClean="0"/>
              <a:t>.</a:t>
            </a:r>
          </a:p>
          <a:p>
            <a:r>
              <a:rPr lang="en-IN" dirty="0" smtClean="0"/>
              <a:t>J &amp; K=1</a:t>
            </a:r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4" y="3570750"/>
            <a:ext cx="4642794" cy="2662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3157538"/>
            <a:ext cx="4753773" cy="184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2-bit Ripple Counter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</a:t>
            </a:r>
            <a:r>
              <a:rPr lang="en-IN" dirty="0" smtClean="0"/>
              <a:t>oggle </a:t>
            </a:r>
            <a:r>
              <a:rPr lang="en-IN" dirty="0"/>
              <a:t>the state at the negative going end of the clock pulse .i.e. at the transition 1 to 0 of the clock </a:t>
            </a:r>
            <a:r>
              <a:rPr lang="en-IN" dirty="0" smtClean="0"/>
              <a:t>pulse.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6" y="2738584"/>
            <a:ext cx="5986463" cy="3047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72363" y="3257550"/>
            <a:ext cx="714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00</a:t>
            </a:r>
          </a:p>
          <a:p>
            <a:r>
              <a:rPr lang="en-IN" dirty="0" smtClean="0"/>
              <a:t>01</a:t>
            </a:r>
          </a:p>
          <a:p>
            <a:r>
              <a:rPr lang="en-IN" dirty="0" smtClean="0"/>
              <a:t>10</a:t>
            </a:r>
          </a:p>
          <a:p>
            <a:r>
              <a:rPr lang="en-IN" dirty="0" smtClean="0"/>
              <a:t>11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0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b="1" dirty="0"/>
              <a:t>4-bit Ripple Counter Using JK Flip flop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583" y="1510506"/>
            <a:ext cx="8668239" cy="330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4-bit Ripple Counter Using JK Flip flop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14" y="2907069"/>
            <a:ext cx="6072189" cy="2847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3703" y="1930400"/>
            <a:ext cx="13573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0000</a:t>
            </a:r>
          </a:p>
          <a:p>
            <a:r>
              <a:rPr lang="en-IN" dirty="0" smtClean="0"/>
              <a:t>0001</a:t>
            </a:r>
          </a:p>
          <a:p>
            <a:r>
              <a:rPr lang="en-IN" dirty="0" smtClean="0"/>
              <a:t>0010</a:t>
            </a:r>
          </a:p>
          <a:p>
            <a:r>
              <a:rPr lang="en-IN" dirty="0" smtClean="0"/>
              <a:t>0011</a:t>
            </a:r>
          </a:p>
          <a:p>
            <a:r>
              <a:rPr lang="en-IN" dirty="0" smtClean="0"/>
              <a:t>0100</a:t>
            </a:r>
          </a:p>
          <a:p>
            <a:r>
              <a:rPr lang="en-IN" dirty="0" smtClean="0"/>
              <a:t>0101</a:t>
            </a:r>
          </a:p>
          <a:p>
            <a:r>
              <a:rPr lang="en-IN" dirty="0" smtClean="0"/>
              <a:t>0110</a:t>
            </a:r>
          </a:p>
          <a:p>
            <a:r>
              <a:rPr lang="en-IN" dirty="0" smtClean="0"/>
              <a:t>0111</a:t>
            </a:r>
          </a:p>
          <a:p>
            <a:r>
              <a:rPr lang="en-IN" dirty="0" smtClean="0"/>
              <a:t>1000</a:t>
            </a:r>
          </a:p>
          <a:p>
            <a:r>
              <a:rPr lang="en-IN" dirty="0" smtClean="0"/>
              <a:t>1001</a:t>
            </a:r>
          </a:p>
          <a:p>
            <a:r>
              <a:rPr lang="en-IN" dirty="0" smtClean="0"/>
              <a:t>1010</a:t>
            </a:r>
          </a:p>
          <a:p>
            <a:r>
              <a:rPr lang="en-IN" dirty="0" smtClean="0"/>
              <a:t>1011</a:t>
            </a:r>
          </a:p>
          <a:p>
            <a:r>
              <a:rPr lang="en-IN" dirty="0" smtClean="0"/>
              <a:t>1100</a:t>
            </a:r>
          </a:p>
          <a:p>
            <a:r>
              <a:rPr lang="en-IN" dirty="0" smtClean="0"/>
              <a:t>1101</a:t>
            </a:r>
          </a:p>
          <a:p>
            <a:r>
              <a:rPr lang="en-IN" dirty="0" smtClean="0"/>
              <a:t>1110</a:t>
            </a:r>
          </a:p>
          <a:p>
            <a:r>
              <a:rPr lang="en-IN" dirty="0" smtClean="0"/>
              <a:t>1111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26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b="1" dirty="0"/>
              <a:t>Asynchronous Decade Counters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1254"/>
            <a:ext cx="8596668" cy="4749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binary counters previously introduced have two to the power </a:t>
            </a:r>
            <a:r>
              <a:rPr lang="en-US" i="1" dirty="0"/>
              <a:t>n</a:t>
            </a:r>
            <a:r>
              <a:rPr lang="en-US" dirty="0"/>
              <a:t> states.  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But </a:t>
            </a:r>
            <a:r>
              <a:rPr lang="en-US" dirty="0"/>
              <a:t>counters with states less than this number are also </a:t>
            </a:r>
            <a:r>
              <a:rPr lang="en-US" dirty="0" smtClean="0"/>
              <a:t>possible</a:t>
            </a:r>
          </a:p>
          <a:p>
            <a:endParaRPr lang="en-US" dirty="0"/>
          </a:p>
          <a:p>
            <a:r>
              <a:rPr lang="en-US" dirty="0"/>
              <a:t>They are designed to have the number of states in their sequences, which are called truncated sequences.  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These sequences are achieved by forcing the counter to recycle before going through all of its normal states.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A common modulus for counters with truncated sequences is ten.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counter with ten states in its sequence is called a </a:t>
            </a:r>
            <a:r>
              <a:rPr lang="en-US" i="1" dirty="0"/>
              <a:t>decade counter</a:t>
            </a:r>
            <a:r>
              <a:rPr lang="en-US" dirty="0"/>
              <a:t>. 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54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BLOCK DIGARAM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93" y="2789403"/>
            <a:ext cx="6248071" cy="231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37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Truth Table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82666"/>
            <a:ext cx="8596668" cy="3880773"/>
          </a:xfrm>
        </p:spPr>
        <p:txBody>
          <a:bodyPr/>
          <a:lstStyle/>
          <a:p>
            <a:r>
              <a:rPr lang="en-IN" dirty="0"/>
              <a:t>When the Decade counter is at REST, the count is equal to 0000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05" y="1930400"/>
            <a:ext cx="37338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30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3-bit Synchronous Counter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All flip-flops in the counter are clocked at same time by a common clock pulse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93" y="2692663"/>
            <a:ext cx="6167439" cy="350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16690" y="2952089"/>
            <a:ext cx="13573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000</a:t>
            </a:r>
          </a:p>
          <a:p>
            <a:r>
              <a:rPr lang="en-IN" dirty="0" smtClean="0"/>
              <a:t>001</a:t>
            </a:r>
          </a:p>
          <a:p>
            <a:r>
              <a:rPr lang="en-IN" dirty="0" smtClean="0"/>
              <a:t>010</a:t>
            </a:r>
          </a:p>
          <a:p>
            <a:r>
              <a:rPr lang="en-IN" dirty="0" smtClean="0"/>
              <a:t>011</a:t>
            </a:r>
          </a:p>
          <a:p>
            <a:r>
              <a:rPr lang="en-IN" dirty="0" smtClean="0"/>
              <a:t>100</a:t>
            </a:r>
          </a:p>
          <a:p>
            <a:r>
              <a:rPr lang="en-IN" dirty="0" smtClean="0"/>
              <a:t>101</a:t>
            </a:r>
          </a:p>
          <a:p>
            <a:r>
              <a:rPr lang="en-IN" dirty="0" smtClean="0"/>
              <a:t>110</a:t>
            </a:r>
          </a:p>
          <a:p>
            <a:r>
              <a:rPr lang="en-IN" dirty="0" smtClean="0"/>
              <a:t>111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94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4-bit </a:t>
            </a:r>
            <a:r>
              <a:rPr lang="en-IN" dirty="0"/>
              <a:t>Synchronous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2533649"/>
            <a:ext cx="47053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6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Down -Counter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9509654" cy="4484024"/>
          </a:xfrm>
        </p:spPr>
        <p:txBody>
          <a:bodyPr>
            <a:noAutofit/>
          </a:bodyPr>
          <a:lstStyle/>
          <a:p>
            <a:r>
              <a:rPr lang="en-IN" dirty="0" smtClean="0"/>
              <a:t>A binary counter with reverse count is called  a binary down-counter.</a:t>
            </a:r>
          </a:p>
          <a:p>
            <a:endParaRPr lang="en-IN" dirty="0"/>
          </a:p>
          <a:p>
            <a:r>
              <a:rPr lang="en-IN" dirty="0" smtClean="0"/>
              <a:t>The count is decremented by  1 with  every clock pulse .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The output of a 4-bit down counter starts from 1111,</a:t>
            </a:r>
            <a:r>
              <a:rPr lang="en-IN" dirty="0"/>
              <a:t> 1110, 1101, 1100, 1011, </a:t>
            </a:r>
            <a:r>
              <a:rPr lang="en-IN" dirty="0" smtClean="0"/>
              <a:t>1010…. 0000 and then back to 1111.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The circuits shown previously works as down counters if outputs are taken from Q’ instead of Q.</a:t>
            </a:r>
          </a:p>
          <a:p>
            <a:endParaRPr lang="en-IN" dirty="0" smtClean="0"/>
          </a:p>
          <a:p>
            <a:r>
              <a:rPr lang="en-IN" dirty="0" smtClean="0"/>
              <a:t>If we observe count sequence of down counter, it can be noticed that the lowest order bits toggle at each clock pulse.</a:t>
            </a:r>
          </a:p>
          <a:p>
            <a:endParaRPr lang="en-IN" dirty="0" smtClean="0"/>
          </a:p>
          <a:p>
            <a:r>
              <a:rPr lang="en-IN" dirty="0" smtClean="0"/>
              <a:t>Any other bit is complemented ,if its previous lower order bit goes from 0 to 1(asynchronous)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92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381000"/>
            <a:ext cx="8596668" cy="1119188"/>
          </a:xfrm>
        </p:spPr>
        <p:txBody>
          <a:bodyPr/>
          <a:lstStyle/>
          <a:p>
            <a:r>
              <a:rPr lang="en-IN" dirty="0" smtClean="0"/>
              <a:t>           UP DOWN COUNTERS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446" y="1500188"/>
            <a:ext cx="8952441" cy="4657725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An </a:t>
            </a:r>
            <a:r>
              <a:rPr lang="en-IN" sz="2000" i="1" dirty="0"/>
              <a:t>up-down counter</a:t>
            </a:r>
            <a:r>
              <a:rPr lang="en-IN" sz="2000" dirty="0"/>
              <a:t> is a combination of an up-counter and a down-counter. </a:t>
            </a:r>
            <a:endParaRPr lang="en-IN" sz="2000" dirty="0" smtClean="0"/>
          </a:p>
          <a:p>
            <a:pPr algn="just"/>
            <a:endParaRPr lang="en-IN" sz="2000" dirty="0"/>
          </a:p>
          <a:p>
            <a:pPr algn="just"/>
            <a:r>
              <a:rPr lang="en-IN" sz="2000" dirty="0" smtClean="0"/>
              <a:t>It </a:t>
            </a:r>
            <a:r>
              <a:rPr lang="en-IN" sz="2000" dirty="0"/>
              <a:t>can count in both directions, increasing as well as </a:t>
            </a:r>
            <a:r>
              <a:rPr lang="en-IN" sz="2000" dirty="0" smtClean="0"/>
              <a:t>decreasing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I</a:t>
            </a:r>
            <a:r>
              <a:rPr lang="en-IN" sz="2000" dirty="0" smtClean="0"/>
              <a:t>n </a:t>
            </a:r>
            <a:r>
              <a:rPr lang="en-IN" sz="2000" dirty="0"/>
              <a:t>the up-counter each flip-flop is triggered by the normal output of the preceding </a:t>
            </a:r>
            <a:r>
              <a:rPr lang="en-IN" sz="2000" dirty="0" smtClean="0"/>
              <a:t>flip-flop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I</a:t>
            </a:r>
            <a:r>
              <a:rPr lang="en-IN" sz="2000" dirty="0" smtClean="0"/>
              <a:t>n </a:t>
            </a:r>
            <a:r>
              <a:rPr lang="en-IN" sz="2000" dirty="0"/>
              <a:t>a down-counter, each flip-flop is triggered by the complement output of the preceding flip-flop</a:t>
            </a:r>
            <a:endParaRPr lang="en-IN" sz="2000" dirty="0" smtClean="0"/>
          </a:p>
        </p:txBody>
      </p:sp>
    </p:spTree>
    <p:extLst>
      <p:ext uri="{BB962C8B-B14F-4D97-AF65-F5344CB8AC3E}">
        <p14:creationId xmlns:p14="http://schemas.microsoft.com/office/powerpoint/2010/main" val="17594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3-bit ripple Up/Down Counter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106" y="2553494"/>
            <a:ext cx="77438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1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Up Operation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85889"/>
            <a:ext cx="9509654" cy="4655474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/>
              <a:t>T</a:t>
            </a:r>
            <a:r>
              <a:rPr lang="en-IN" sz="2000" dirty="0" smtClean="0"/>
              <a:t>he </a:t>
            </a:r>
            <a:r>
              <a:rPr lang="en-IN" sz="2000" dirty="0"/>
              <a:t>counter counts upwards when UP control is logic ‘</a:t>
            </a:r>
            <a:r>
              <a:rPr lang="en-IN" sz="2000" dirty="0" smtClean="0"/>
              <a:t>1 </a:t>
            </a:r>
            <a:r>
              <a:rPr lang="en-IN" sz="2000" dirty="0"/>
              <a:t>and </a:t>
            </a:r>
            <a:r>
              <a:rPr lang="en-IN" sz="2000" dirty="0" smtClean="0"/>
              <a:t>DOWN </a:t>
            </a:r>
            <a:r>
              <a:rPr lang="en-IN" sz="2000" dirty="0"/>
              <a:t>control is logic ‘0</a:t>
            </a:r>
            <a:r>
              <a:rPr lang="en-IN" sz="2000" dirty="0" smtClean="0"/>
              <a:t>’.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/>
              <a:t>T</a:t>
            </a:r>
            <a:r>
              <a:rPr lang="en-IN" sz="2000" dirty="0" smtClean="0"/>
              <a:t>he </a:t>
            </a:r>
            <a:r>
              <a:rPr lang="en-IN" sz="2000" dirty="0"/>
              <a:t>lower AND gates will be disabled and their outputs will be </a:t>
            </a:r>
            <a:r>
              <a:rPr lang="en-IN" sz="2000" dirty="0" smtClean="0"/>
              <a:t>zero.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/>
              <a:t>So they will not affect the outputs of the OR gates. At the same time the upper AND gates will be </a:t>
            </a:r>
            <a:r>
              <a:rPr lang="en-IN" sz="2000" dirty="0" smtClean="0"/>
              <a:t>enabled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/>
              <a:t>Hence, </a:t>
            </a:r>
            <a:r>
              <a:rPr lang="en-IN" sz="2000" dirty="0" smtClean="0"/>
              <a:t>Q0 </a:t>
            </a:r>
            <a:r>
              <a:rPr lang="en-IN" sz="2000" dirty="0"/>
              <a:t>will pass through the OR gate and into the clock </a:t>
            </a:r>
            <a:r>
              <a:rPr lang="en-IN" sz="2000" dirty="0" smtClean="0"/>
              <a:t>input of 2</a:t>
            </a:r>
            <a:r>
              <a:rPr lang="en-IN" sz="2000" baseline="30000" dirty="0" smtClean="0"/>
              <a:t>nd</a:t>
            </a:r>
            <a:r>
              <a:rPr lang="en-IN" sz="2000" dirty="0" smtClean="0"/>
              <a:t> FF.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/>
              <a:t>Similarly, </a:t>
            </a:r>
            <a:r>
              <a:rPr lang="en-IN" sz="2000" dirty="0" smtClean="0"/>
              <a:t>Q1 </a:t>
            </a:r>
            <a:r>
              <a:rPr lang="en-IN" sz="2000" dirty="0"/>
              <a:t>will be gated into the clock input of the </a:t>
            </a:r>
            <a:r>
              <a:rPr lang="en-IN" sz="2000" dirty="0" smtClean="0"/>
              <a:t>3</a:t>
            </a:r>
            <a:r>
              <a:rPr lang="en-IN" sz="2000" baseline="30000" dirty="0" smtClean="0"/>
              <a:t>rd</a:t>
            </a:r>
            <a:r>
              <a:rPr lang="en-IN" sz="2000" dirty="0" smtClean="0"/>
              <a:t>  flip-flop.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/>
              <a:t>Thus, as the input pulses are applied, it will count up and follow a natural binary counting sequence from 000 to 111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31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Down Operation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9395354" cy="4341149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The counter counts downwards </a:t>
            </a:r>
            <a:r>
              <a:rPr lang="en-IN" sz="2000" dirty="0" smtClean="0"/>
              <a:t>when the </a:t>
            </a:r>
            <a:r>
              <a:rPr lang="en-IN" sz="2000" dirty="0"/>
              <a:t>UP control input is logic ‘0’ and DOWN control is logic ‘1</a:t>
            </a:r>
            <a:r>
              <a:rPr lang="en-IN" sz="2000" dirty="0" smtClean="0"/>
              <a:t>’.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 smtClean="0"/>
              <a:t>The </a:t>
            </a:r>
            <a:r>
              <a:rPr lang="en-IN" sz="2000" dirty="0"/>
              <a:t>upper AND gates will become disabled and the lower AND gates are </a:t>
            </a:r>
            <a:r>
              <a:rPr lang="en-IN" sz="2000" dirty="0" smtClean="0"/>
              <a:t>enabled.</a:t>
            </a:r>
          </a:p>
          <a:p>
            <a:pPr algn="just"/>
            <a:endParaRPr lang="en-IN" sz="2000" dirty="0" smtClean="0"/>
          </a:p>
          <a:p>
            <a:pPr algn="just"/>
            <a:r>
              <a:rPr lang="en-IN" sz="2000" dirty="0" smtClean="0"/>
              <a:t>Q0’and Q1’ will  </a:t>
            </a:r>
            <a:r>
              <a:rPr lang="en-IN" sz="2000" dirty="0"/>
              <a:t>pass through the clock inputs of the following </a:t>
            </a:r>
            <a:r>
              <a:rPr lang="en-IN" sz="2000" dirty="0">
                <a:hlinkClick r:id="rId2"/>
              </a:rPr>
              <a:t>flip-flops</a:t>
            </a:r>
            <a:r>
              <a:rPr lang="en-IN" sz="2000" dirty="0"/>
              <a:t>. </a:t>
            </a:r>
            <a:endParaRPr lang="en-IN" sz="2000" dirty="0" smtClean="0"/>
          </a:p>
          <a:p>
            <a:pPr algn="just"/>
            <a:endParaRPr lang="en-IN" sz="2000" dirty="0"/>
          </a:p>
          <a:p>
            <a:pPr algn="just"/>
            <a:r>
              <a:rPr lang="en-IN" sz="2000" dirty="0" smtClean="0"/>
              <a:t>Hence</a:t>
            </a:r>
            <a:r>
              <a:rPr lang="en-IN" sz="2000" dirty="0"/>
              <a:t>, in this condition the counter will count in down mode, as the input pulses are applied.</a:t>
            </a:r>
          </a:p>
        </p:txBody>
      </p:sp>
    </p:spTree>
    <p:extLst>
      <p:ext uri="{BB962C8B-B14F-4D97-AF65-F5344CB8AC3E}">
        <p14:creationId xmlns:p14="http://schemas.microsoft.com/office/powerpoint/2010/main" val="228328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REGISTERS</a:t>
            </a:r>
            <a:endParaRPr lang="en-IN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0988"/>
            <a:ext cx="8596668" cy="1320800"/>
          </a:xfrm>
        </p:spPr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 </a:t>
            </a:r>
            <a:r>
              <a:rPr lang="en-IN" dirty="0" smtClean="0"/>
              <a:t>                      Registers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58628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Registers are groups of flip-flops, where each flip-flop is capable of storing one bit of </a:t>
            </a:r>
            <a:r>
              <a:rPr lang="en-IN" dirty="0" smtClean="0"/>
              <a:t>information.</a:t>
            </a:r>
          </a:p>
          <a:p>
            <a:pPr algn="just"/>
            <a:endParaRPr lang="en-IN" dirty="0"/>
          </a:p>
          <a:p>
            <a:pPr algn="just"/>
            <a:r>
              <a:rPr lang="en-US" dirty="0" smtClean="0"/>
              <a:t>An</a:t>
            </a:r>
            <a:r>
              <a:rPr lang="en-US" dirty="0"/>
              <a:t> </a:t>
            </a:r>
            <a:r>
              <a:rPr lang="en-US" i="1" dirty="0"/>
              <a:t>n</a:t>
            </a:r>
            <a:r>
              <a:rPr lang="en-US" dirty="0"/>
              <a:t>-bit register is a group of </a:t>
            </a:r>
            <a:r>
              <a:rPr lang="en-US" i="1" dirty="0"/>
              <a:t>n</a:t>
            </a:r>
            <a:r>
              <a:rPr lang="en-US" dirty="0"/>
              <a:t> </a:t>
            </a:r>
            <a:r>
              <a:rPr lang="en-US" dirty="0" smtClean="0"/>
              <a:t>flip-flops.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basic function of a register is to hold information in a digital system and make it available to the logic elements for the computing </a:t>
            </a:r>
            <a:r>
              <a:rPr lang="en-US" dirty="0" smtClean="0"/>
              <a:t>process.</a:t>
            </a:r>
          </a:p>
          <a:p>
            <a:pPr algn="just"/>
            <a:endParaRPr lang="en-US" dirty="0"/>
          </a:p>
          <a:p>
            <a:pPr algn="just"/>
            <a:r>
              <a:rPr lang="en-IN" dirty="0"/>
              <a:t>Registers are synchronous circuits thus all flip-flops are controlled by a common clock line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 smtClean="0"/>
              <a:t> </a:t>
            </a:r>
            <a:r>
              <a:rPr lang="en-IN" dirty="0"/>
              <a:t>As registers are often used to collect serial data they are also called accumulators</a:t>
            </a:r>
            <a:endParaRPr lang="en-US" dirty="0" smtClean="0"/>
          </a:p>
          <a:p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69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> </a:t>
            </a:r>
            <a:r>
              <a:rPr lang="en-IN" dirty="0" smtClean="0"/>
              <a:t>              Shift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register capable of shifting the binary information held in each cell to its </a:t>
            </a:r>
            <a:r>
              <a:rPr lang="en-IN" dirty="0" smtClean="0"/>
              <a:t>neighbouring cell</a:t>
            </a:r>
            <a:r>
              <a:rPr lang="en-IN" dirty="0"/>
              <a:t>, in a selected direction, is called a </a:t>
            </a:r>
            <a:r>
              <a:rPr lang="en-IN" i="1" dirty="0"/>
              <a:t>shift register. </a:t>
            </a:r>
            <a:endParaRPr lang="en-IN" i="1" dirty="0" smtClean="0"/>
          </a:p>
          <a:p>
            <a:endParaRPr lang="en-IN" i="1" dirty="0"/>
          </a:p>
          <a:p>
            <a:r>
              <a:rPr lang="en-IN" dirty="0" smtClean="0"/>
              <a:t>The </a:t>
            </a:r>
            <a:r>
              <a:rPr lang="en-IN" dirty="0"/>
              <a:t>logical configuration of a </a:t>
            </a:r>
            <a:r>
              <a:rPr lang="en-IN" dirty="0" smtClean="0"/>
              <a:t>shift register </a:t>
            </a:r>
            <a:r>
              <a:rPr lang="en-IN" dirty="0"/>
              <a:t>consists of a chain of flip‐flops in cascade, with the output of one flip‐flop </a:t>
            </a:r>
            <a:r>
              <a:rPr lang="en-IN" dirty="0" smtClean="0"/>
              <a:t>connected to </a:t>
            </a:r>
            <a:r>
              <a:rPr lang="en-IN" dirty="0"/>
              <a:t>the input of the next flip‐flop. 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All </a:t>
            </a:r>
            <a:r>
              <a:rPr lang="en-IN" dirty="0"/>
              <a:t>flip‐flops receive common clock </a:t>
            </a:r>
            <a:r>
              <a:rPr lang="en-IN" dirty="0" smtClean="0"/>
              <a:t>pulses, which </a:t>
            </a:r>
            <a:r>
              <a:rPr lang="en-IN" dirty="0"/>
              <a:t>activate the shift of data from one stage to the </a:t>
            </a:r>
            <a:r>
              <a:rPr lang="en-IN" dirty="0" smtClean="0"/>
              <a:t>next.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17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Shift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28738"/>
            <a:ext cx="9438216" cy="5357811"/>
          </a:xfrm>
        </p:spPr>
        <p:txBody>
          <a:bodyPr>
            <a:normAutofit/>
          </a:bodyPr>
          <a:lstStyle/>
          <a:p>
            <a:r>
              <a:rPr lang="en-US" dirty="0"/>
              <a:t> Shift registers operate in one of four different modes with the basic movement of data through a shift register being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542925" indent="0">
              <a:buNone/>
            </a:pPr>
            <a:r>
              <a:rPr lang="en-IN" dirty="0"/>
              <a:t>• </a:t>
            </a:r>
            <a:r>
              <a:rPr lang="en-IN" b="1" dirty="0"/>
              <a:t>Serial-in to Serial-out (SISO)  </a:t>
            </a:r>
            <a:endParaRPr lang="en-IN" b="1" dirty="0" smtClean="0"/>
          </a:p>
          <a:p>
            <a:pPr marL="542925" indent="0">
              <a:buNone/>
            </a:pPr>
            <a:endParaRPr lang="en-IN" b="1" dirty="0"/>
          </a:p>
          <a:p>
            <a:pPr marL="542925" indent="0">
              <a:buNone/>
            </a:pPr>
            <a:r>
              <a:rPr lang="en-IN" b="1" dirty="0"/>
              <a:t>• Serial-in to Parallel-out (SIPO) </a:t>
            </a:r>
            <a:endParaRPr lang="en-IN" b="1" dirty="0" smtClean="0"/>
          </a:p>
          <a:p>
            <a:pPr marL="542925" indent="0">
              <a:buNone/>
            </a:pPr>
            <a:endParaRPr lang="en-IN" b="1" dirty="0"/>
          </a:p>
          <a:p>
            <a:pPr marL="542925" indent="0">
              <a:buNone/>
            </a:pPr>
            <a:r>
              <a:rPr lang="en-IN" b="1" dirty="0"/>
              <a:t>• Parallel-in to Serial-out (PISO) </a:t>
            </a:r>
            <a:endParaRPr lang="en-IN" b="1" dirty="0" smtClean="0"/>
          </a:p>
          <a:p>
            <a:pPr marL="542925" indent="0">
              <a:buNone/>
            </a:pPr>
            <a:endParaRPr lang="en-IN" b="1" dirty="0"/>
          </a:p>
          <a:p>
            <a:pPr marL="542925" indent="0">
              <a:buNone/>
            </a:pPr>
            <a:r>
              <a:rPr lang="en-IN" b="1" dirty="0"/>
              <a:t> • Parallel-in to parallel-out (PIPO) </a:t>
            </a:r>
          </a:p>
          <a:p>
            <a:pPr marL="542925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99" y="3143250"/>
            <a:ext cx="2957513" cy="7632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612" y="4762141"/>
            <a:ext cx="2552700" cy="714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635" y="5606002"/>
            <a:ext cx="1747839" cy="12519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442" y="3903911"/>
            <a:ext cx="2454541" cy="92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Serial-in to Serial-out (SISO)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4412587"/>
          </a:xfrm>
        </p:spPr>
        <p:txBody>
          <a:bodyPr/>
          <a:lstStyle/>
          <a:p>
            <a:r>
              <a:rPr lang="en-US" dirty="0"/>
              <a:t>The data is shifted serially “IN” and “OUT” of the register, one bit at a </a:t>
            </a:r>
            <a:r>
              <a:rPr lang="en-US" dirty="0" smtClean="0"/>
              <a:t>time.</a:t>
            </a:r>
          </a:p>
          <a:p>
            <a:endParaRPr lang="en-US" dirty="0"/>
          </a:p>
          <a:p>
            <a:r>
              <a:rPr lang="en-US" dirty="0"/>
              <a:t>It has only three </a:t>
            </a:r>
            <a:r>
              <a:rPr lang="en-US" dirty="0" smtClean="0"/>
              <a:t>connections</a:t>
            </a:r>
          </a:p>
          <a:p>
            <a:pPr marL="714375">
              <a:buFont typeface="Wingdings" panose="05000000000000000000" pitchFamily="2" charset="2"/>
              <a:buChar char="§"/>
            </a:pPr>
            <a:r>
              <a:rPr lang="en-US" b="1" dirty="0" smtClean="0"/>
              <a:t>The </a:t>
            </a:r>
            <a:r>
              <a:rPr lang="en-US" b="1" dirty="0"/>
              <a:t>serial </a:t>
            </a:r>
            <a:r>
              <a:rPr lang="en-US" b="1" dirty="0" smtClean="0"/>
              <a:t>input- </a:t>
            </a:r>
            <a:r>
              <a:rPr lang="en-US" dirty="0"/>
              <a:t>which determines what enters the left hand </a:t>
            </a:r>
            <a:r>
              <a:rPr lang="en-US" dirty="0" smtClean="0"/>
              <a:t>flip-flop</a:t>
            </a:r>
          </a:p>
          <a:p>
            <a:pPr marL="714375">
              <a:buFont typeface="Wingdings" panose="05000000000000000000" pitchFamily="2" charset="2"/>
              <a:buChar char="§"/>
            </a:pPr>
            <a:r>
              <a:rPr lang="en-US" b="1" dirty="0"/>
              <a:t>T</a:t>
            </a:r>
            <a:r>
              <a:rPr lang="en-US" b="1" dirty="0" smtClean="0"/>
              <a:t>he </a:t>
            </a:r>
            <a:r>
              <a:rPr lang="en-US" b="1" dirty="0"/>
              <a:t>serial </a:t>
            </a:r>
            <a:r>
              <a:rPr lang="en-US" b="1" dirty="0" smtClean="0"/>
              <a:t>output</a:t>
            </a: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en-US" dirty="0"/>
              <a:t>which is taken from the output of the right hand </a:t>
            </a:r>
            <a:r>
              <a:rPr lang="en-US" dirty="0" smtClean="0"/>
              <a:t>flip-flop</a:t>
            </a:r>
          </a:p>
          <a:p>
            <a:pPr marL="714375">
              <a:buFont typeface="Wingdings" panose="05000000000000000000" pitchFamily="2" charset="2"/>
              <a:buChar char="§"/>
            </a:pPr>
            <a:r>
              <a:rPr lang="en-US" b="1" dirty="0"/>
              <a:t>S</a:t>
            </a:r>
            <a:r>
              <a:rPr lang="en-US" b="1" dirty="0" smtClean="0"/>
              <a:t>equencing </a:t>
            </a:r>
            <a:r>
              <a:rPr lang="en-US" b="1" dirty="0"/>
              <a:t>clock signal</a:t>
            </a:r>
            <a:endParaRPr lang="en-IN" b="1" dirty="0"/>
          </a:p>
        </p:txBody>
      </p:sp>
      <p:pic>
        <p:nvPicPr>
          <p:cNvPr id="2050" name="Picture 2" descr="Block Diagram of SISO Regis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4044873"/>
            <a:ext cx="8338079" cy="196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40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Serial-in to Serial-out (SISO)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2451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 smtClean="0"/>
          </a:p>
          <a:p>
            <a:r>
              <a:rPr lang="en-US" dirty="0"/>
              <a:t>The above figure illustrates entry of the four bits </a:t>
            </a:r>
            <a:r>
              <a:rPr lang="en-US" dirty="0" smtClean="0"/>
              <a:t>1011 </a:t>
            </a:r>
            <a:r>
              <a:rPr lang="en-US" dirty="0"/>
              <a:t>into the register.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imputing of data’s, Four bits (</a:t>
            </a:r>
            <a:r>
              <a:rPr lang="en-US" dirty="0" smtClean="0"/>
              <a:t>1011) </a:t>
            </a:r>
            <a:r>
              <a:rPr lang="en-US" dirty="0"/>
              <a:t>being serially shifted out of the register and replaced by all zeros</a:t>
            </a:r>
            <a:endParaRPr lang="en-IN" b="1" dirty="0"/>
          </a:p>
        </p:txBody>
      </p:sp>
      <p:pic>
        <p:nvPicPr>
          <p:cNvPr id="3075" name="Picture 3" descr="sis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270000"/>
            <a:ext cx="7309379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07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163"/>
          </a:xfrm>
        </p:spPr>
        <p:txBody>
          <a:bodyPr/>
          <a:lstStyle/>
          <a:p>
            <a:r>
              <a:rPr lang="en-US" b="1" dirty="0"/>
              <a:t>Serial-in to Parallel-out (SIPO)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8763"/>
            <a:ext cx="8596668" cy="4512599"/>
          </a:xfrm>
        </p:spPr>
        <p:txBody>
          <a:bodyPr/>
          <a:lstStyle/>
          <a:p>
            <a:r>
              <a:rPr lang="en-US" dirty="0"/>
              <a:t>The register is loaded with serial data, </a:t>
            </a:r>
            <a:r>
              <a:rPr lang="en-US" dirty="0" smtClean="0"/>
              <a:t>one </a:t>
            </a:r>
            <a:r>
              <a:rPr lang="en-US" dirty="0"/>
              <a:t>bit at a time, with the stored data being available at the output in </a:t>
            </a:r>
            <a:r>
              <a:rPr lang="en-US" dirty="0" smtClean="0"/>
              <a:t>parallel form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100" name="Picture 4" descr="sipo_block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2588157"/>
            <a:ext cx="6283325" cy="179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87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n-US" b="1" dirty="0"/>
              <a:t>Parallel-in to Serial-out (PISO)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3702"/>
            <a:ext cx="8596668" cy="464563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parallel data is loaded into the register </a:t>
            </a:r>
            <a:r>
              <a:rPr lang="en-US" dirty="0" smtClean="0"/>
              <a:t>simultaneously.</a:t>
            </a:r>
          </a:p>
          <a:p>
            <a:pPr algn="just"/>
            <a:r>
              <a:rPr lang="en-US" dirty="0" smtClean="0"/>
              <a:t>Values are shifted </a:t>
            </a:r>
            <a:r>
              <a:rPr lang="en-US" dirty="0"/>
              <a:t>out of the register serially one bit at a time under clock control.</a:t>
            </a:r>
            <a:endParaRPr lang="en-IN" dirty="0"/>
          </a:p>
          <a:p>
            <a:pPr algn="just"/>
            <a:r>
              <a:rPr lang="en-US" dirty="0"/>
              <a:t>Output of previous Flip Flop is connected to the input of the next one via a combinational circuit.</a:t>
            </a:r>
            <a:endParaRPr lang="en-IN" dirty="0"/>
          </a:p>
          <a:p>
            <a:pPr algn="just"/>
            <a:r>
              <a:rPr lang="en-US" dirty="0"/>
              <a:t>The binary input word B</a:t>
            </a:r>
            <a:r>
              <a:rPr lang="en-US" baseline="-25000" dirty="0"/>
              <a:t>0</a:t>
            </a:r>
            <a:r>
              <a:rPr lang="en-US" dirty="0"/>
              <a:t>, B1, B2, B3 is applied though the same combinational circuit.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41" y="3806519"/>
            <a:ext cx="8678961" cy="252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6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6288"/>
          </a:xfrm>
        </p:spPr>
        <p:txBody>
          <a:bodyPr/>
          <a:lstStyle/>
          <a:p>
            <a:r>
              <a:rPr lang="en-US" b="1" dirty="0"/>
              <a:t>Parallel-in to Serial-out (PISO)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28763"/>
            <a:ext cx="9195329" cy="4512599"/>
          </a:xfrm>
        </p:spPr>
        <p:txBody>
          <a:bodyPr/>
          <a:lstStyle/>
          <a:p>
            <a:r>
              <a:rPr lang="en-US" dirty="0"/>
              <a:t>There are two modes in which this circuit can work namely </a:t>
            </a:r>
            <a:r>
              <a:rPr lang="en-US" b="1" dirty="0"/>
              <a:t>shift mode </a:t>
            </a:r>
            <a:r>
              <a:rPr lang="en-US" dirty="0"/>
              <a:t>or </a:t>
            </a:r>
            <a:r>
              <a:rPr lang="en-US" b="1" dirty="0"/>
              <a:t>load </a:t>
            </a:r>
            <a:r>
              <a:rPr lang="en-US" b="1" dirty="0" smtClean="0"/>
              <a:t>mode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Load Mode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When the shift/load bar line is low (0), the AND gate 2, 4</a:t>
            </a:r>
            <a:r>
              <a:rPr lang="en-US" dirty="0" smtClean="0"/>
              <a:t> </a:t>
            </a:r>
            <a:r>
              <a:rPr lang="en-US" dirty="0"/>
              <a:t>and 6 become active. They will pass B</a:t>
            </a:r>
            <a:r>
              <a:rPr lang="en-US" baseline="-25000" dirty="0"/>
              <a:t>1</a:t>
            </a:r>
            <a:r>
              <a:rPr lang="en-US" dirty="0"/>
              <a:t>, B2, and </a:t>
            </a:r>
            <a:r>
              <a:rPr lang="en-US" dirty="0" smtClean="0"/>
              <a:t>B3 bits </a:t>
            </a:r>
            <a:r>
              <a:rPr lang="en-US" dirty="0"/>
              <a:t>to the corresponding flip-flops</a:t>
            </a:r>
            <a:r>
              <a:rPr lang="en-US" dirty="0" smtClean="0"/>
              <a:t>.</a:t>
            </a:r>
          </a:p>
          <a:p>
            <a:r>
              <a:rPr lang="en-US" dirty="0"/>
              <a:t>On the low going edge of clock, the binary input B</a:t>
            </a:r>
            <a:r>
              <a:rPr lang="en-US" baseline="-25000" dirty="0"/>
              <a:t>0</a:t>
            </a:r>
            <a:r>
              <a:rPr lang="en-US" dirty="0"/>
              <a:t>, B1, B2, B3 will get loaded into the corresponding flip-flops. </a:t>
            </a:r>
            <a:endParaRPr lang="en-US" dirty="0" smtClean="0"/>
          </a:p>
          <a:p>
            <a:r>
              <a:rPr lang="en-US" dirty="0" smtClean="0"/>
              <a:t>Thus parallel </a:t>
            </a:r>
            <a:r>
              <a:rPr lang="en-US" dirty="0"/>
              <a:t>loading takes </a:t>
            </a:r>
            <a:r>
              <a:rPr lang="en-US" dirty="0" smtClean="0"/>
              <a:t>place.</a:t>
            </a:r>
          </a:p>
        </p:txBody>
      </p:sp>
    </p:spTree>
    <p:extLst>
      <p:ext uri="{BB962C8B-B14F-4D97-AF65-F5344CB8AC3E}">
        <p14:creationId xmlns:p14="http://schemas.microsoft.com/office/powerpoint/2010/main" val="34168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7738"/>
          </a:xfrm>
        </p:spPr>
        <p:txBody>
          <a:bodyPr/>
          <a:lstStyle/>
          <a:p>
            <a:r>
              <a:rPr lang="en-US" b="1" dirty="0"/>
              <a:t>Parallel-in to Serial-out (PISO)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Shift Mode</a:t>
            </a:r>
            <a:endParaRPr lang="en-IN" b="1" dirty="0"/>
          </a:p>
          <a:p>
            <a:pPr algn="just"/>
            <a:r>
              <a:rPr lang="en-US" sz="2000" dirty="0"/>
              <a:t>When the shift/load bar line is low (1), the AND gate 2, 5 and 6 become inactive. Hence the parallel loading of the data becomes </a:t>
            </a:r>
            <a:r>
              <a:rPr lang="en-US" sz="2000" dirty="0" smtClean="0"/>
              <a:t>impossible. </a:t>
            </a:r>
          </a:p>
          <a:p>
            <a:pPr marL="0" indent="0" algn="just">
              <a:buNone/>
            </a:pPr>
            <a:endParaRPr lang="en-US" sz="2000" dirty="0" smtClean="0"/>
          </a:p>
          <a:p>
            <a:pPr algn="just"/>
            <a:r>
              <a:rPr lang="en-US" sz="2000" dirty="0" smtClean="0"/>
              <a:t>But </a:t>
            </a:r>
            <a:r>
              <a:rPr lang="en-US" sz="2000" dirty="0"/>
              <a:t>the AND gate 1, 3 and 5 become active. </a:t>
            </a:r>
            <a:endParaRPr lang="en-US" sz="2000" dirty="0" smtClean="0"/>
          </a:p>
          <a:p>
            <a:pPr marL="0" indent="0" algn="just">
              <a:buNone/>
            </a:pPr>
            <a:endParaRPr lang="en-US" sz="2000" dirty="0" smtClean="0"/>
          </a:p>
          <a:p>
            <a:pPr algn="just"/>
            <a:r>
              <a:rPr lang="en-US" sz="2000" dirty="0" smtClean="0"/>
              <a:t>Therefore </a:t>
            </a:r>
            <a:r>
              <a:rPr lang="en-US" sz="2000" dirty="0"/>
              <a:t>the shifting of data from left to right bit by bit on application of clock pulses. Thus the parallel in serial out operation take place.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6359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Parallel-in </a:t>
            </a:r>
            <a:r>
              <a:rPr lang="en-US" b="1" dirty="0"/>
              <a:t>to parallel-out (PIPO) 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827" y="2199931"/>
            <a:ext cx="9091681" cy="267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1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Parallel-in to parallel-out (PIPO)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parallel data is loaded simultaneously into the register, and transferred together to their respective outputs by the same clock </a:t>
            </a:r>
            <a:r>
              <a:rPr lang="en-US" dirty="0" smtClean="0"/>
              <a:t>pulse.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In this mode, the </a:t>
            </a:r>
            <a:r>
              <a:rPr lang="en-US" dirty="0" smtClean="0"/>
              <a:t>4 </a:t>
            </a:r>
            <a:r>
              <a:rPr lang="en-US" dirty="0"/>
              <a:t>bit binary input B</a:t>
            </a:r>
            <a:r>
              <a:rPr lang="en-US" baseline="-25000" dirty="0"/>
              <a:t>0</a:t>
            </a:r>
            <a:r>
              <a:rPr lang="en-US" dirty="0"/>
              <a:t>, B1, B2, B3 is applied to the data inputs D</a:t>
            </a:r>
            <a:r>
              <a:rPr lang="en-US" baseline="-25000" dirty="0"/>
              <a:t>0</a:t>
            </a:r>
            <a:r>
              <a:rPr lang="en-US" dirty="0"/>
              <a:t>, D1, D2, and D3 respectively of the four flip-flops.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As soon as a negative clock edge is applied, the input binary bits will be loaded into the flip-flops </a:t>
            </a:r>
            <a:r>
              <a:rPr lang="en-US" dirty="0" smtClean="0"/>
              <a:t>simultaneously.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The loaded bits will appear simultaneously to the output side.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21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2529</TotalTime>
  <Words>1350</Words>
  <Application>Microsoft Office PowerPoint</Application>
  <PresentationFormat>Widescreen</PresentationFormat>
  <Paragraphs>224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Trebuchet MS</vt:lpstr>
      <vt:lpstr>Wingdings</vt:lpstr>
      <vt:lpstr>Wingdings 3</vt:lpstr>
      <vt:lpstr>Facet</vt:lpstr>
      <vt:lpstr>COUNTERS</vt:lpstr>
      <vt:lpstr>                   COUNTERS</vt:lpstr>
      <vt:lpstr>             COUNTERS</vt:lpstr>
      <vt:lpstr>     COUNTERS</vt:lpstr>
      <vt:lpstr>     COUNTERS</vt:lpstr>
      <vt:lpstr>Asynchronous/Ripple Counters</vt:lpstr>
      <vt:lpstr>2-bit Ripple Counter</vt:lpstr>
      <vt:lpstr>2-bit Ripple Counter</vt:lpstr>
      <vt:lpstr>4-bit Ripple Counter Using JK Flip flop</vt:lpstr>
      <vt:lpstr>4-bit Ripple Counter Using JK Flip flop</vt:lpstr>
      <vt:lpstr>Asynchronous Decade Counters</vt:lpstr>
      <vt:lpstr>BLOCK DIGARAM </vt:lpstr>
      <vt:lpstr>Truth Table</vt:lpstr>
      <vt:lpstr>3-bit Synchronous Counter</vt:lpstr>
      <vt:lpstr>4-bit Synchronous Counter</vt:lpstr>
      <vt:lpstr>Down -Counter</vt:lpstr>
      <vt:lpstr>           UP DOWN COUNTERS</vt:lpstr>
      <vt:lpstr>3-bit ripple Up/Down Counter</vt:lpstr>
      <vt:lpstr>Up Operation</vt:lpstr>
      <vt:lpstr>Down Operation</vt:lpstr>
      <vt:lpstr>REGISTERS</vt:lpstr>
      <vt:lpstr>                        Registers</vt:lpstr>
      <vt:lpstr>                Shift Register</vt:lpstr>
      <vt:lpstr>Shift Register</vt:lpstr>
      <vt:lpstr>Serial-in to Serial-out (SISO)</vt:lpstr>
      <vt:lpstr>Serial-in to Serial-out (SISO)</vt:lpstr>
      <vt:lpstr>Serial-in to Parallel-out (SIPO) </vt:lpstr>
      <vt:lpstr>Parallel-in to Serial-out (PISO)</vt:lpstr>
      <vt:lpstr>Parallel-in to Serial-out (PISO)</vt:lpstr>
      <vt:lpstr>Parallel-in to Serial-out (PISO)</vt:lpstr>
      <vt:lpstr>     Parallel-in to parallel-out (PIPO) </vt:lpstr>
      <vt:lpstr>Parallel-in to parallel-out (PIPO) 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COUNTERS</dc:title>
  <dc:creator>Anish</dc:creator>
  <cp:lastModifiedBy>Anish</cp:lastModifiedBy>
  <cp:revision>67</cp:revision>
  <dcterms:created xsi:type="dcterms:W3CDTF">2021-02-27T00:26:42Z</dcterms:created>
  <dcterms:modified xsi:type="dcterms:W3CDTF">2023-01-18T08:02:21Z</dcterms:modified>
</cp:coreProperties>
</file>