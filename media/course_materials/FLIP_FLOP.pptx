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74" r:id="rId2"/>
    <p:sldId id="272" r:id="rId3"/>
    <p:sldId id="273" r:id="rId4"/>
    <p:sldId id="275" r:id="rId5"/>
    <p:sldId id="256" r:id="rId6"/>
    <p:sldId id="276" r:id="rId7"/>
    <p:sldId id="277" r:id="rId8"/>
    <p:sldId id="278" r:id="rId9"/>
    <p:sldId id="279" r:id="rId10"/>
    <p:sldId id="280" r:id="rId11"/>
    <p:sldId id="257" r:id="rId12"/>
    <p:sldId id="281" r:id="rId13"/>
    <p:sldId id="258" r:id="rId14"/>
    <p:sldId id="282" r:id="rId15"/>
    <p:sldId id="259" r:id="rId16"/>
    <p:sldId id="260" r:id="rId17"/>
    <p:sldId id="283" r:id="rId18"/>
    <p:sldId id="261" r:id="rId19"/>
    <p:sldId id="284" r:id="rId20"/>
    <p:sldId id="263" r:id="rId21"/>
    <p:sldId id="262" r:id="rId22"/>
    <p:sldId id="285" r:id="rId23"/>
    <p:sldId id="265" r:id="rId24"/>
    <p:sldId id="266" r:id="rId25"/>
    <p:sldId id="267" r:id="rId26"/>
    <p:sldId id="268" r:id="rId27"/>
    <p:sldId id="269" r:id="rId28"/>
    <p:sldId id="270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407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929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63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089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3837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6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523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54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07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21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09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47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dirty="0" smtClean="0"/>
              <a:t>                         </a:t>
            </a:r>
            <a:br>
              <a:rPr lang="en-IN" sz="4800" dirty="0" smtClean="0"/>
            </a:br>
            <a:r>
              <a:rPr lang="en-IN" sz="4800" dirty="0"/>
              <a:t/>
            </a:r>
            <a:br>
              <a:rPr lang="en-IN" sz="4800" dirty="0"/>
            </a:br>
            <a:r>
              <a:rPr lang="en-IN" sz="2000" b="1" dirty="0" smtClean="0"/>
              <a:t>Sequential </a:t>
            </a:r>
            <a:r>
              <a:rPr lang="en-IN" sz="2000" b="1" dirty="0"/>
              <a:t>circuit </a:t>
            </a:r>
            <a:r>
              <a:rPr lang="en-IN" sz="2000" b="1" dirty="0" smtClean="0"/>
              <a:t>- Clocking, Flip flops - SR – JK- D -T flip flops, Counters - Synchronous and</a:t>
            </a:r>
            <a:br>
              <a:rPr lang="en-IN" sz="2000" b="1" dirty="0" smtClean="0"/>
            </a:br>
            <a:r>
              <a:rPr lang="en-IN" sz="2000" b="1" dirty="0" smtClean="0"/>
              <a:t>asynchronous counters - UP/DOWN counters , Registers - Serial in serial out - Serial in parallel</a:t>
            </a:r>
            <a:br>
              <a:rPr lang="en-IN" sz="2000" b="1" dirty="0" smtClean="0"/>
            </a:br>
            <a:r>
              <a:rPr lang="en-IN" sz="2000" b="1" dirty="0" smtClean="0"/>
              <a:t>out - Parallel in serial out - Parallel in parallel out registers</a:t>
            </a:r>
            <a:br>
              <a:rPr lang="en-IN" sz="2000" b="1" dirty="0" smtClean="0"/>
            </a:br>
            <a:endParaRPr lang="en-IN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9233" y="1399032"/>
            <a:ext cx="10058400" cy="1143000"/>
          </a:xfrm>
        </p:spPr>
        <p:txBody>
          <a:bodyPr>
            <a:normAutofit/>
          </a:bodyPr>
          <a:lstStyle/>
          <a:p>
            <a:r>
              <a:rPr lang="en-IN" sz="3600" b="1" dirty="0"/>
              <a:t>Module 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9564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Sequential Circuits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  Sequential circuits</a:t>
            </a:r>
            <a:r>
              <a:rPr lang="en-US" dirty="0"/>
              <a:t> </a:t>
            </a:r>
            <a:r>
              <a:rPr lang="en-US" dirty="0" smtClean="0"/>
              <a:t>are constructed by adding an additional memory element to </a:t>
            </a:r>
            <a:br>
              <a:rPr lang="en-US" dirty="0" smtClean="0"/>
            </a:br>
            <a:r>
              <a:rPr lang="en-US" dirty="0" smtClean="0"/>
              <a:t>     combinational circuit.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 They act as storage elements.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  They can store and retrieve information when needed at a later time.</a:t>
            </a:r>
          </a:p>
          <a:p>
            <a:pPr marL="0" indent="0">
              <a:buNone/>
            </a:pPr>
            <a:r>
              <a:rPr lang="en-IN" dirty="0" smtClean="0"/>
              <a:t>   </a:t>
            </a:r>
          </a:p>
          <a:p>
            <a:pPr marL="0" indent="0">
              <a:buNone/>
            </a:pPr>
            <a:r>
              <a:rPr lang="en-IN" dirty="0" smtClean="0"/>
              <a:t>  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936" y="3661513"/>
            <a:ext cx="5705348" cy="15904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58821" y="5360316"/>
            <a:ext cx="3807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ndara" panose="020E0502030303020204" pitchFamily="34" charset="0"/>
                <a:ea typeface="Calibri" panose="020F0502020204030204" pitchFamily="34" charset="0"/>
                <a:cs typeface="TimesTenLTStd-Roman"/>
              </a:rPr>
              <a:t>block diagram of </a:t>
            </a:r>
            <a:r>
              <a:rPr lang="en-US" b="1" dirty="0" smtClean="0">
                <a:latin typeface="Candara" panose="020E0502030303020204" pitchFamily="34" charset="0"/>
                <a:ea typeface="Calibri" panose="020F0502020204030204" pitchFamily="34" charset="0"/>
                <a:cs typeface="TimesTenLTStd-Roman"/>
              </a:rPr>
              <a:t> </a:t>
            </a:r>
            <a:r>
              <a:rPr lang="en-US" b="1" dirty="0">
                <a:latin typeface="Candara" panose="020E0502030303020204" pitchFamily="34" charset="0"/>
                <a:ea typeface="Calibri" panose="020F0502020204030204" pitchFamily="34" charset="0"/>
                <a:cs typeface="TimesTenLTStd-Roman"/>
              </a:rPr>
              <a:t>sequential circuit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0343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Sequential Circuits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684" y="1845734"/>
            <a:ext cx="10445996" cy="4023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   Memory elements are capable of storing  binary information.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 Information stored in memory element defines the state of sequential circuit.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dirty="0" smtClean="0"/>
              <a:t>memory elements such as latches and flip flops are used in sequential circuits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dirty="0" smtClean="0"/>
              <a:t>The external  inputs received  by the sequential circuit, together with the values </a:t>
            </a:r>
            <a:br>
              <a:rPr lang="en-US" sz="2400" dirty="0" smtClean="0"/>
            </a:br>
            <a:r>
              <a:rPr lang="en-US" sz="2400" dirty="0" smtClean="0"/>
              <a:t>   currently  stored in the memory element determine binary value at the o/p </a:t>
            </a:r>
            <a:br>
              <a:rPr lang="en-US" sz="2400" dirty="0" smtClean="0"/>
            </a:br>
            <a:r>
              <a:rPr lang="en-US" sz="2400" dirty="0" smtClean="0"/>
              <a:t>   terminal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Thus, a sequential circuit is specified by a time sequence of inputs, outputs, and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    internal states</a:t>
            </a:r>
            <a:r>
              <a:rPr lang="en-US" sz="2400" dirty="0"/>
              <a:t>.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 </a:t>
            </a:r>
            <a:r>
              <a:rPr lang="en-US" sz="2400" dirty="0" smtClean="0"/>
              <a:t>In </a:t>
            </a:r>
            <a:r>
              <a:rPr lang="en-US" sz="2400" dirty="0"/>
              <a:t>contrast, the outputs of combinational logic depend only on the present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     values </a:t>
            </a:r>
            <a:r>
              <a:rPr lang="en-US" sz="2400" dirty="0"/>
              <a:t>of the </a:t>
            </a:r>
            <a:r>
              <a:rPr lang="en-US" sz="2400" dirty="0" smtClean="0"/>
              <a:t>inputs</a:t>
            </a:r>
            <a:r>
              <a:rPr lang="en-US" sz="2400" dirty="0"/>
              <a:t>.</a:t>
            </a:r>
            <a:endParaRPr lang="en-IN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 smtClean="0"/>
          </a:p>
          <a:p>
            <a:pPr marL="0" indent="0">
              <a:buNone/>
            </a:pPr>
            <a:r>
              <a:rPr lang="en-IN" sz="2400" dirty="0" smtClean="0"/>
              <a:t>   </a:t>
            </a:r>
          </a:p>
          <a:p>
            <a:pPr marL="0" indent="0">
              <a:buNone/>
            </a:pPr>
            <a:r>
              <a:rPr lang="en-IN" sz="2400" dirty="0" smtClean="0"/>
              <a:t>  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9340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Sequential Circuits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684" y="1845734"/>
            <a:ext cx="10445996" cy="4023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   Sequential circuits are classified As:</a:t>
            </a:r>
          </a:p>
          <a:p>
            <a:pPr marL="450850" indent="-90488"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en-US" sz="2400" b="1" dirty="0" smtClean="0"/>
              <a:t>Synchronous sequential circuit</a:t>
            </a:r>
            <a:r>
              <a:rPr lang="en-US" sz="2400" dirty="0" smtClean="0"/>
              <a:t> : I/p signals can affect memory elements at discrete instants of time.</a:t>
            </a:r>
          </a:p>
          <a:p>
            <a:pPr marL="450850" indent="-90488">
              <a:buFont typeface="Wingdings" panose="05000000000000000000" pitchFamily="2" charset="2"/>
              <a:buChar char="q"/>
            </a:pPr>
            <a:r>
              <a:rPr lang="en-US" sz="2400" dirty="0" smtClean="0"/>
              <a:t>  </a:t>
            </a:r>
            <a:r>
              <a:rPr lang="en-US" sz="2400" b="1" dirty="0" smtClean="0"/>
              <a:t>Asynchronous sequential circuit:</a:t>
            </a:r>
            <a:r>
              <a:rPr lang="en-US" sz="2400" dirty="0" smtClean="0"/>
              <a:t> </a:t>
            </a:r>
            <a:r>
              <a:rPr lang="en-US" sz="2400" dirty="0"/>
              <a:t>I/p signals can affect memory elements at </a:t>
            </a:r>
            <a:r>
              <a:rPr lang="en-US" sz="2400" dirty="0" smtClean="0"/>
              <a:t>any instant </a:t>
            </a:r>
            <a:r>
              <a:rPr lang="en-US" sz="2400" dirty="0"/>
              <a:t>of time</a:t>
            </a:r>
            <a:r>
              <a:rPr lang="en-US" sz="2400" dirty="0" smtClean="0"/>
              <a:t>.</a:t>
            </a:r>
          </a:p>
          <a:p>
            <a:pPr marL="450850" indent="-90488">
              <a:buFont typeface="Wingdings" panose="05000000000000000000" pitchFamily="2" charset="2"/>
              <a:buChar char="q"/>
            </a:pPr>
            <a:r>
              <a:rPr lang="en-US" sz="2400" dirty="0"/>
              <a:t> Synchronization is achieved by a timing device called a clock generator, which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  provides </a:t>
            </a:r>
            <a:r>
              <a:rPr lang="en-US" sz="2400" dirty="0"/>
              <a:t>a clock signal having the form of a periodic train of clock </a:t>
            </a:r>
            <a:r>
              <a:rPr lang="en-US" sz="2400" dirty="0" smtClean="0"/>
              <a:t>pulses.</a:t>
            </a:r>
          </a:p>
          <a:p>
            <a:pPr marL="450850" indent="-90488">
              <a:buFont typeface="Wingdings" panose="05000000000000000000" pitchFamily="2" charset="2"/>
              <a:buChar char="q"/>
            </a:pPr>
            <a:r>
              <a:rPr lang="en-US" sz="2400" dirty="0"/>
              <a:t> The storage elements (memory) used in clocked sequential circuits are called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   flip-flops</a:t>
            </a:r>
            <a:r>
              <a:rPr lang="en-US" sz="2400" dirty="0"/>
              <a:t>.</a:t>
            </a:r>
            <a:endParaRPr lang="en-IN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 smtClean="0"/>
          </a:p>
          <a:p>
            <a:pPr marL="0" indent="0">
              <a:buNone/>
            </a:pPr>
            <a:r>
              <a:rPr lang="en-IN" sz="2400" dirty="0" smtClean="0"/>
              <a:t>   </a:t>
            </a:r>
          </a:p>
          <a:p>
            <a:pPr marL="0" indent="0">
              <a:buNone/>
            </a:pPr>
            <a:r>
              <a:rPr lang="en-IN" sz="2400" dirty="0" smtClean="0"/>
              <a:t>  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4954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dirty="0" smtClean="0"/>
              <a:t>                         FLIP FLOP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03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LATCHES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 smtClean="0"/>
              <a:t> </a:t>
            </a:r>
            <a:r>
              <a:rPr lang="en-US" dirty="0"/>
              <a:t>Latch is a storage element that can maintain a binary state indefinitely (as long as power is delivered to the circuit), until directed by an input signal to switch states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They are formed from pairs of logic gates where the gate outputs are fed Into one ,of the inputs of the other gate in the pair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This results in a regenerative circuit 'having two stable output </a:t>
            </a:r>
            <a:r>
              <a:rPr lang="en-US" dirty="0" smtClean="0"/>
              <a:t>states.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The major differences among the various types of latches and flip-flops are the number of inputs they possess and the manner in which the inputs affect the binary state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60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SR LATCH -NOR Gates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4116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800" dirty="0" smtClean="0"/>
              <a:t> </a:t>
            </a:r>
            <a:r>
              <a:rPr lang="en-US" sz="1800" dirty="0"/>
              <a:t>The SR latch is a circuit with two </a:t>
            </a:r>
            <a:r>
              <a:rPr lang="en-US" sz="1800" b="1" dirty="0">
                <a:solidFill>
                  <a:srgbClr val="C00000"/>
                </a:solidFill>
              </a:rPr>
              <a:t>cross-coupled NOR gates </a:t>
            </a:r>
            <a:r>
              <a:rPr lang="en-US" sz="1800" dirty="0"/>
              <a:t>or two </a:t>
            </a:r>
            <a:r>
              <a:rPr lang="en-US" sz="1800" b="1" dirty="0">
                <a:solidFill>
                  <a:srgbClr val="C00000"/>
                </a:solidFill>
              </a:rPr>
              <a:t>cross-coupled NAND gates</a:t>
            </a:r>
            <a:r>
              <a:rPr lang="en-US" sz="1800" dirty="0"/>
              <a:t>, </a:t>
            </a:r>
            <a:r>
              <a:rPr lang="en-US" sz="1800" dirty="0" smtClean="0"/>
              <a:t>  </a:t>
            </a:r>
            <a:r>
              <a:rPr lang="en-US" sz="1800" dirty="0"/>
              <a:t> </a:t>
            </a:r>
            <a:r>
              <a:rPr lang="en-US" sz="1800" dirty="0" smtClean="0"/>
              <a:t>and </a:t>
            </a:r>
            <a:r>
              <a:rPr lang="en-US" sz="1800" dirty="0"/>
              <a:t>two </a:t>
            </a:r>
            <a:r>
              <a:rPr lang="en-US" sz="1800" dirty="0" smtClean="0"/>
              <a:t>inputs </a:t>
            </a:r>
            <a:r>
              <a:rPr lang="en-US" sz="1800" dirty="0"/>
              <a:t>labeled </a:t>
            </a:r>
            <a:r>
              <a:rPr lang="en-US" sz="1800" dirty="0">
                <a:solidFill>
                  <a:srgbClr val="C00000"/>
                </a:solidFill>
              </a:rPr>
              <a:t>S for set</a:t>
            </a:r>
            <a:r>
              <a:rPr lang="en-US" sz="1800" dirty="0"/>
              <a:t> and </a:t>
            </a:r>
            <a:r>
              <a:rPr lang="en-US" sz="1800" dirty="0">
                <a:solidFill>
                  <a:srgbClr val="C00000"/>
                </a:solidFill>
              </a:rPr>
              <a:t>R for </a:t>
            </a:r>
            <a:r>
              <a:rPr lang="en-US" sz="1800" dirty="0" smtClean="0">
                <a:solidFill>
                  <a:srgbClr val="C00000"/>
                </a:solidFill>
              </a:rPr>
              <a:t>reset.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1800" dirty="0" smtClean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18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 smtClean="0">
                <a:solidFill>
                  <a:schemeClr val="accent2">
                    <a:lumMod val="75000"/>
                  </a:schemeClr>
                </a:solidFill>
              </a:rPr>
              <a:t>In a NOR gate output is 0 if any of the i/p is 1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 smtClean="0"/>
              <a:t> The </a:t>
            </a:r>
            <a:r>
              <a:rPr lang="en-US" sz="1800" dirty="0"/>
              <a:t>latch has two useful states. When output Q = 1 and Q_ = 0, the latch is said to be in the set state. When Q = 0 and Q’ = 1, it is in the reset </a:t>
            </a:r>
            <a:r>
              <a:rPr lang="en-US" sz="1800" dirty="0" smtClean="0"/>
              <a:t>state</a:t>
            </a:r>
            <a:endParaRPr lang="en-US" sz="1800" dirty="0" smtClean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14" y="2242396"/>
            <a:ext cx="6044332" cy="24673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78721" y="3889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7208289" y="26089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25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SR LATCH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 smtClean="0"/>
              <a:t> </a:t>
            </a:r>
            <a:r>
              <a:rPr lang="en-US" dirty="0"/>
              <a:t>Under normal conditions, both inputs of the latch remain at 0 unless the state is to be </a:t>
            </a:r>
            <a:r>
              <a:rPr lang="en-US" dirty="0" smtClean="0"/>
              <a:t>  </a:t>
            </a:r>
            <a:br>
              <a:rPr lang="en-US" dirty="0" smtClean="0"/>
            </a:br>
            <a:r>
              <a:rPr lang="en-US" dirty="0" smtClean="0"/>
              <a:t>   changed.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Initially assume that S=1 and R=0. Since Gate 2 has an i/P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o/p Q’ must be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, which puts both </a:t>
            </a:r>
            <a:br>
              <a:rPr lang="en-US" dirty="0" smtClean="0"/>
            </a:br>
            <a:r>
              <a:rPr lang="en-US" dirty="0" smtClean="0"/>
              <a:t>    i/p at gate 1 to be 0 and o/p Q=1.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When S is returned to 0, O/P remains the same because O/P  at Q remains at 1, leaving  i/p at </a:t>
            </a:r>
            <a:br>
              <a:rPr lang="en-US" dirty="0" smtClean="0"/>
            </a:br>
            <a:r>
              <a:rPr lang="en-US" dirty="0" smtClean="0"/>
              <a:t>   gate 2 at 1, causing Q’ to stay at 0 which makes i/p at gate1 at 0 and making Q as 1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 when S=0 and R=0 at i/p, it retains previous state.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 When both i/p’s are 1 both Q and Q’ will be 0 which violates the fact that Q and Q’ are </a:t>
            </a:r>
            <a:br>
              <a:rPr lang="en-US" dirty="0" smtClean="0"/>
            </a:br>
            <a:r>
              <a:rPr lang="en-US" dirty="0" smtClean="0"/>
              <a:t>   compliments of each other- this should be avoided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277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SR LATCH- NAND Gates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3781" y="2405829"/>
            <a:ext cx="5661537" cy="23422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32102" y="4872659"/>
            <a:ext cx="4672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 a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NAND gate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output is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1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if any of the i/p is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982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SR LATCH-NAND GATE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 smtClean="0"/>
              <a:t> </a:t>
            </a:r>
            <a:r>
              <a:rPr lang="en-US" dirty="0"/>
              <a:t>It operates with both inputs normally at 1, unless the state of the latch has to be </a:t>
            </a:r>
            <a:r>
              <a:rPr lang="en-US" dirty="0" smtClean="0"/>
              <a:t>changed.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dirty="0"/>
              <a:t>The application of 0 to the </a:t>
            </a:r>
            <a:r>
              <a:rPr lang="en-US" i="1" dirty="0"/>
              <a:t>S </a:t>
            </a:r>
            <a:r>
              <a:rPr lang="en-US" dirty="0"/>
              <a:t>input causes output </a:t>
            </a:r>
            <a:r>
              <a:rPr lang="en-US" i="1" dirty="0"/>
              <a:t>Q </a:t>
            </a:r>
            <a:r>
              <a:rPr lang="en-US" dirty="0"/>
              <a:t>to go to 1, putting the latch in the set state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When the </a:t>
            </a:r>
            <a:r>
              <a:rPr lang="en-US" i="1" dirty="0"/>
              <a:t>S</a:t>
            </a:r>
            <a:r>
              <a:rPr lang="en-US" dirty="0"/>
              <a:t> input goes back to 1, the circuit remains in the set </a:t>
            </a:r>
            <a:r>
              <a:rPr lang="en-US" dirty="0" smtClean="0"/>
              <a:t>state.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By </a:t>
            </a:r>
            <a:r>
              <a:rPr lang="en-US" dirty="0"/>
              <a:t>placing a 0 in the </a:t>
            </a:r>
            <a:r>
              <a:rPr lang="en-US" i="1" dirty="0"/>
              <a:t>R </a:t>
            </a:r>
            <a:r>
              <a:rPr lang="en-US" dirty="0" smtClean="0"/>
              <a:t>input, the circuit goes to reset state.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 condition that is forbidden for the NAND latch is both inputs being equal to 0 at the same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time</a:t>
            </a:r>
            <a:r>
              <a:rPr lang="en-US" dirty="0"/>
              <a:t>, an input combination that should be avoided</a:t>
            </a:r>
          </a:p>
        </p:txBody>
      </p:sp>
    </p:spTree>
    <p:extLst>
      <p:ext uri="{BB962C8B-B14F-4D97-AF65-F5344CB8AC3E}">
        <p14:creationId xmlns:p14="http://schemas.microsoft.com/office/powerpoint/2010/main" val="109049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Flip-Flop 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700" indent="-342900">
              <a:buFont typeface="Wingdings" panose="05000000000000000000" pitchFamily="2" charset="2"/>
              <a:buChar char="§"/>
            </a:pPr>
            <a:r>
              <a:rPr lang="en-IN" dirty="0" smtClean="0"/>
              <a:t>Latches are </a:t>
            </a:r>
            <a:r>
              <a:rPr lang="en-US" dirty="0" smtClean="0"/>
              <a:t>combinational </a:t>
            </a:r>
            <a:r>
              <a:rPr lang="en-US" dirty="0"/>
              <a:t>logic </a:t>
            </a:r>
            <a:r>
              <a:rPr lang="en-US" dirty="0" smtClean="0"/>
              <a:t>circuits where </a:t>
            </a:r>
            <a:r>
              <a:rPr lang="en-US" dirty="0"/>
              <a:t>state of its output change when the input states </a:t>
            </a:r>
            <a:r>
              <a:rPr lang="en-US" dirty="0" smtClean="0"/>
              <a:t>change.</a:t>
            </a:r>
          </a:p>
          <a:p>
            <a:pPr marL="177800" indent="0">
              <a:buNone/>
            </a:pPr>
            <a:endParaRPr lang="en-US" dirty="0" smtClean="0"/>
          </a:p>
          <a:p>
            <a:pPr marL="520700" indent="-342900">
              <a:buFont typeface="Wingdings" panose="05000000000000000000" pitchFamily="2" charset="2"/>
              <a:buChar char="§"/>
            </a:pPr>
            <a:r>
              <a:rPr lang="en-US" dirty="0" smtClean="0"/>
              <a:t>They  </a:t>
            </a:r>
            <a:r>
              <a:rPr lang="en-US" dirty="0"/>
              <a:t>operate </a:t>
            </a:r>
            <a:r>
              <a:rPr lang="en-US" dirty="0" smtClean="0"/>
              <a:t>asynchronously and cannot </a:t>
            </a:r>
            <a:r>
              <a:rPr lang="en-US" dirty="0"/>
              <a:t>usefully transfer data or receive data from other </a:t>
            </a:r>
            <a:r>
              <a:rPr lang="en-US" dirty="0" smtClean="0"/>
              <a:t>circuits.</a:t>
            </a:r>
          </a:p>
          <a:p>
            <a:pPr marL="520700" indent="-342900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520700" indent="-342900">
              <a:buFont typeface="Wingdings" panose="05000000000000000000" pitchFamily="2" charset="2"/>
              <a:buChar char="§"/>
            </a:pPr>
            <a:r>
              <a:rPr lang="en-US" dirty="0"/>
              <a:t> So latches cannot be chained </a:t>
            </a:r>
            <a:r>
              <a:rPr lang="en-US" dirty="0" smtClean="0"/>
              <a:t>to </a:t>
            </a:r>
            <a:r>
              <a:rPr lang="en-US" dirty="0"/>
              <a:t>built more complex circuits like registers and counters</a:t>
            </a:r>
            <a:r>
              <a:rPr lang="en-US" dirty="0" smtClean="0"/>
              <a:t>.</a:t>
            </a:r>
          </a:p>
          <a:p>
            <a:pPr marL="177800" indent="0">
              <a:buNone/>
            </a:pPr>
            <a:endParaRPr lang="en-US" dirty="0" smtClean="0"/>
          </a:p>
          <a:p>
            <a:pPr marL="520700" indent="-342900">
              <a:buFont typeface="Wingdings" panose="05000000000000000000" pitchFamily="2" charset="2"/>
              <a:buChar char="§"/>
            </a:pPr>
            <a:r>
              <a:rPr lang="en-US" dirty="0"/>
              <a:t>The solution to these problems is to provide a timing or clock signal that allows all of the </a:t>
            </a:r>
            <a:r>
              <a:rPr lang="en-US" dirty="0" smtClean="0"/>
              <a:t> </a:t>
            </a:r>
            <a:r>
              <a:rPr lang="en-US" dirty="0"/>
              <a:t>the chained circuits to switch </a:t>
            </a:r>
            <a:r>
              <a:rPr lang="en-US" dirty="0" smtClean="0"/>
              <a:t>simultaneously.</a:t>
            </a:r>
          </a:p>
          <a:p>
            <a:pPr marL="520700" indent="-342900">
              <a:buFont typeface="Wingdings" panose="05000000000000000000" pitchFamily="2" charset="2"/>
              <a:buChar char="§"/>
            </a:pPr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407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Flip-Flop 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20700" indent="-342900">
              <a:buFont typeface="Wingdings" panose="05000000000000000000" pitchFamily="2" charset="2"/>
              <a:buChar char="§"/>
            </a:pPr>
            <a:r>
              <a:rPr lang="en-US" dirty="0"/>
              <a:t>Such circuits generated by adding a clock signal to latches are called Flip-flops </a:t>
            </a:r>
            <a:endParaRPr lang="en-US" dirty="0" smtClean="0"/>
          </a:p>
          <a:p>
            <a:pPr marL="5207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520700" indent="-342900">
              <a:buFont typeface="Wingdings" panose="05000000000000000000" pitchFamily="2" charset="2"/>
              <a:buChar char="§"/>
            </a:pPr>
            <a:r>
              <a:rPr lang="en-IN" dirty="0" smtClean="0"/>
              <a:t>Flip-flops are </a:t>
            </a:r>
            <a:r>
              <a:rPr lang="en-IN" dirty="0"/>
              <a:t>fundamental building blocks of digital electronics systems used in </a:t>
            </a:r>
            <a:r>
              <a:rPr lang="en-IN" dirty="0" smtClean="0"/>
              <a:t>computers.</a:t>
            </a:r>
          </a:p>
          <a:p>
            <a:pPr marL="177800" indent="0">
              <a:buNone/>
            </a:pPr>
            <a:endParaRPr lang="en-IN" dirty="0" smtClean="0"/>
          </a:p>
          <a:p>
            <a:pPr marL="520700" indent="-342900">
              <a:buFont typeface="Wingdings" panose="05000000000000000000" pitchFamily="2" charset="2"/>
              <a:buChar char="§"/>
            </a:pPr>
            <a:r>
              <a:rPr lang="en-IN" dirty="0" smtClean="0"/>
              <a:t>A </a:t>
            </a:r>
            <a:r>
              <a:rPr lang="en-IN" dirty="0"/>
              <a:t>flip flop is an electronic circuit with two stable states that can be used to store binary </a:t>
            </a:r>
            <a:r>
              <a:rPr lang="en-IN" dirty="0" smtClean="0"/>
              <a:t>data</a:t>
            </a:r>
          </a:p>
          <a:p>
            <a:pPr marL="177800" indent="0">
              <a:buNone/>
            </a:pPr>
            <a:endParaRPr lang="en-IN" dirty="0" smtClean="0"/>
          </a:p>
          <a:p>
            <a:pPr marL="520700" indent="-342900">
              <a:buFont typeface="Wingdings" panose="05000000000000000000" pitchFamily="2" charset="2"/>
              <a:buChar char="§"/>
            </a:pPr>
            <a:r>
              <a:rPr lang="en-IN" dirty="0"/>
              <a:t>The stored data can be changed by applying varying </a:t>
            </a:r>
            <a:r>
              <a:rPr lang="en-IN" dirty="0" smtClean="0"/>
              <a:t>inputs.</a:t>
            </a:r>
          </a:p>
          <a:p>
            <a:pPr marL="520700" indent="-342900">
              <a:buFont typeface="Wingdings" panose="05000000000000000000" pitchFamily="2" charset="2"/>
              <a:buChar char="§"/>
            </a:pPr>
            <a:endParaRPr lang="en-IN" dirty="0" smtClean="0"/>
          </a:p>
          <a:p>
            <a:pPr marL="520700" indent="-342900">
              <a:buFont typeface="Wingdings" panose="05000000000000000000" pitchFamily="2" charset="2"/>
              <a:buChar char="§"/>
            </a:pPr>
            <a:r>
              <a:rPr lang="en-IN" dirty="0" smtClean="0"/>
              <a:t>The o/p of the flip-flop changes w.r.t to input  based on the presence of an active clock pulse.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45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        FLIP-FLOP </a:t>
            </a:r>
            <a:r>
              <a:rPr lang="en-US" b="1" dirty="0"/>
              <a:t>Types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basically four main types of flip-flops: </a:t>
            </a:r>
            <a:endParaRPr lang="en-US" dirty="0" smtClean="0"/>
          </a:p>
          <a:p>
            <a:pPr marL="631825" indent="-268288">
              <a:buFont typeface="Wingdings" panose="05000000000000000000" pitchFamily="2" charset="2"/>
              <a:buChar char="§"/>
              <a:tabLst>
                <a:tab pos="806450" algn="l"/>
              </a:tabLst>
            </a:pPr>
            <a:r>
              <a:rPr lang="en-US" b="1" dirty="0" smtClean="0"/>
              <a:t>SR</a:t>
            </a:r>
            <a:r>
              <a:rPr lang="en-US" b="1" dirty="0"/>
              <a:t> </a:t>
            </a:r>
            <a:r>
              <a:rPr lang="en-US" b="1" dirty="0" smtClean="0"/>
              <a:t>Flip-flop</a:t>
            </a:r>
          </a:p>
          <a:p>
            <a:pPr marL="631825" indent="-268288">
              <a:buFont typeface="Wingdings" panose="05000000000000000000" pitchFamily="2" charset="2"/>
              <a:buChar char="§"/>
              <a:tabLst>
                <a:tab pos="806450" algn="l"/>
              </a:tabLst>
            </a:pPr>
            <a:r>
              <a:rPr lang="en-US" b="1" dirty="0" smtClean="0"/>
              <a:t> D Flip-flop</a:t>
            </a:r>
          </a:p>
          <a:p>
            <a:pPr marL="631825" indent="-268288">
              <a:buFont typeface="Wingdings" panose="05000000000000000000" pitchFamily="2" charset="2"/>
              <a:buChar char="§"/>
              <a:tabLst>
                <a:tab pos="806450" algn="l"/>
              </a:tabLst>
            </a:pPr>
            <a:r>
              <a:rPr lang="en-US" b="1" dirty="0" smtClean="0"/>
              <a:t>JK Flip-flop and </a:t>
            </a:r>
          </a:p>
          <a:p>
            <a:pPr marL="631825" indent="-268288">
              <a:buFont typeface="Wingdings" panose="05000000000000000000" pitchFamily="2" charset="2"/>
              <a:buChar char="§"/>
              <a:tabLst>
                <a:tab pos="806450" algn="l"/>
              </a:tabLst>
            </a:pPr>
            <a:r>
              <a:rPr lang="en-US" b="1" dirty="0" smtClean="0"/>
              <a:t>T Flip-flop</a:t>
            </a:r>
          </a:p>
          <a:p>
            <a:pPr marL="363538" indent="-268288">
              <a:buFont typeface="Wingdings" panose="05000000000000000000" pitchFamily="2" charset="2"/>
              <a:buChar char="§"/>
              <a:tabLst>
                <a:tab pos="806450" algn="l"/>
              </a:tabLst>
            </a:pPr>
            <a:r>
              <a:rPr lang="en-IN" dirty="0" smtClean="0"/>
              <a:t>Differs </a:t>
            </a:r>
            <a:r>
              <a:rPr lang="en-US" dirty="0"/>
              <a:t>in the number of inputs they have and how they change </a:t>
            </a:r>
            <a:r>
              <a:rPr lang="en-US" dirty="0" smtClean="0"/>
              <a:t>state.</a:t>
            </a:r>
          </a:p>
          <a:p>
            <a:pPr marL="363538" indent="-268288">
              <a:buFont typeface="Wingdings" panose="05000000000000000000" pitchFamily="2" charset="2"/>
              <a:buChar char="§"/>
              <a:tabLst>
                <a:tab pos="806450" algn="l"/>
              </a:tabLst>
            </a:pPr>
            <a:r>
              <a:rPr lang="en-US" dirty="0"/>
              <a:t>F</a:t>
            </a:r>
            <a:r>
              <a:rPr lang="en-US" dirty="0" smtClean="0"/>
              <a:t>lip-flops </a:t>
            </a:r>
            <a:r>
              <a:rPr lang="en-US" dirty="0"/>
              <a:t>can be described fully and uniquely by its logic symbol, characteristic table, characteristic equation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107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SR </a:t>
            </a:r>
            <a:r>
              <a:rPr lang="en-US" b="1" dirty="0"/>
              <a:t>or RS Flip Flop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The </a:t>
            </a:r>
            <a:r>
              <a:rPr lang="en-US" dirty="0"/>
              <a:t>operation of SR latch can be modified by providing an additional control </a:t>
            </a:r>
            <a:r>
              <a:rPr lang="en-US" dirty="0" smtClean="0"/>
              <a:t>input(CLK) </a:t>
            </a:r>
            <a:r>
              <a:rPr lang="en-US" dirty="0"/>
              <a:t>that determines when the state of the circuit is to be </a:t>
            </a:r>
            <a:r>
              <a:rPr lang="en-US" dirty="0" smtClean="0"/>
              <a:t>changed.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It </a:t>
            </a:r>
            <a:r>
              <a:rPr lang="en-US" dirty="0"/>
              <a:t>consists of an S-R latch circuit and 2 additional NAND </a:t>
            </a:r>
            <a:r>
              <a:rPr lang="en-US" dirty="0" smtClean="0"/>
              <a:t>gates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 pulse input acts as an enable signal for other two inputs.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outputs of NAND gates </a:t>
            </a:r>
            <a:r>
              <a:rPr lang="en-US" dirty="0" smtClean="0"/>
              <a:t>3 </a:t>
            </a:r>
            <a:r>
              <a:rPr lang="en-US" dirty="0"/>
              <a:t>and 4 stay at logic 1 level as long as the CP input remains at o.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321" y="2727231"/>
            <a:ext cx="4181475" cy="1914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80430" y="40533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5092895" y="31139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095170" y="38941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759959" y="2886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54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320" y="2730719"/>
            <a:ext cx="4181475" cy="19145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            SR </a:t>
            </a:r>
            <a:r>
              <a:rPr lang="en-US" b="1" dirty="0"/>
              <a:t>or RS Flip Flop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US" dirty="0" smtClean="0"/>
              <a:t>When </a:t>
            </a:r>
            <a:r>
              <a:rPr lang="en-US" dirty="0"/>
              <a:t>the pulse input goes to 1, information from S or R is allowed to reach the output</a:t>
            </a: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 </a:t>
            </a:r>
            <a:r>
              <a:rPr lang="en-US" dirty="0"/>
              <a:t>The set state is reached with S=1,R=0 and CP=1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This causes the output of gate 3 to go to </a:t>
            </a:r>
            <a:r>
              <a:rPr lang="en-US" dirty="0" smtClean="0"/>
              <a:t>0 and </a:t>
            </a:r>
            <a:r>
              <a:rPr lang="en-US" dirty="0"/>
              <a:t>output of gate 4 to remain at 1, and the output of flip-flop </a:t>
            </a:r>
            <a:r>
              <a:rPr lang="en-US" dirty="0" smtClean="0"/>
              <a:t>1 to </a:t>
            </a:r>
            <a:r>
              <a:rPr lang="en-US" dirty="0"/>
              <a:t>go to 1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818964" y="2888596"/>
            <a:ext cx="37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818964" y="4139425"/>
            <a:ext cx="37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229644" y="3073262"/>
            <a:ext cx="37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8621" y="3871597"/>
            <a:ext cx="37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463" y="2538625"/>
            <a:ext cx="1933575" cy="2047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21464" y="4508757"/>
            <a:ext cx="1933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 smtClean="0"/>
              <a:t>NAND gate Truth Table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146464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       SR </a:t>
            </a:r>
            <a:r>
              <a:rPr lang="en-US" b="1" dirty="0"/>
              <a:t>or RS Flip Flop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035" y="1286179"/>
            <a:ext cx="10058400" cy="4023360"/>
          </a:xfrm>
        </p:spPr>
        <p:txBody>
          <a:bodyPr>
            <a:noAutofit/>
          </a:bodyPr>
          <a:lstStyle/>
          <a:p>
            <a:pPr marL="268288" indent="-174625">
              <a:buFont typeface="Wingdings" panose="05000000000000000000" pitchFamily="2" charset="2"/>
              <a:buChar char="§"/>
            </a:pPr>
            <a:r>
              <a:rPr lang="en-IN" sz="1800" dirty="0" smtClean="0"/>
              <a:t>  When CLK=1, the values of S and R are passed on to the gates 1&amp; 2 via gates 3 &amp; 4.</a:t>
            </a:r>
          </a:p>
          <a:p>
            <a:pPr marL="93663" indent="0">
              <a:buNone/>
            </a:pPr>
            <a:endParaRPr lang="en-IN" sz="1800" dirty="0" smtClean="0"/>
          </a:p>
          <a:p>
            <a:pPr marL="268288" indent="-174625">
              <a:buFont typeface="Wingdings" panose="05000000000000000000" pitchFamily="2" charset="2"/>
              <a:buChar char="§"/>
            </a:pPr>
            <a:r>
              <a:rPr lang="en-IN" sz="1800" dirty="0"/>
              <a:t> </a:t>
            </a:r>
            <a:r>
              <a:rPr lang="en-IN" sz="1800" dirty="0" smtClean="0"/>
              <a:t> The Flip flop will be in set state when S=1 and R=0 and CP=1.</a:t>
            </a:r>
          </a:p>
          <a:p>
            <a:pPr marL="93663" indent="0">
              <a:buNone/>
            </a:pPr>
            <a:endParaRPr lang="en-IN" sz="1800" dirty="0" smtClean="0"/>
          </a:p>
          <a:p>
            <a:pPr marL="268288" indent="-174625">
              <a:buFont typeface="Wingdings" panose="05000000000000000000" pitchFamily="2" charset="2"/>
              <a:buChar char="§"/>
            </a:pPr>
            <a:r>
              <a:rPr lang="en-IN" sz="1800" dirty="0" smtClean="0"/>
              <a:t> When S=0,R=1 and CLK=1, S-R moves to its reset state.</a:t>
            </a:r>
          </a:p>
          <a:p>
            <a:pPr marL="268288" indent="-174625">
              <a:buFont typeface="Wingdings" panose="05000000000000000000" pitchFamily="2" charset="2"/>
              <a:buChar char="§"/>
            </a:pPr>
            <a:endParaRPr lang="en-IN" sz="1800" dirty="0" smtClean="0"/>
          </a:p>
          <a:p>
            <a:pPr marL="268288" indent="-174625">
              <a:buFont typeface="Wingdings" panose="05000000000000000000" pitchFamily="2" charset="2"/>
              <a:buChar char="§"/>
            </a:pPr>
            <a:r>
              <a:rPr lang="en-IN" sz="1800" dirty="0"/>
              <a:t> </a:t>
            </a:r>
            <a:r>
              <a:rPr lang="en-IN" sz="1800" dirty="0" smtClean="0"/>
              <a:t>When both S and R =1 , causes both the o/p’s to momentarily go to 1.</a:t>
            </a:r>
          </a:p>
          <a:p>
            <a:pPr marL="268288" indent="-174625">
              <a:buFont typeface="Wingdings" panose="05000000000000000000" pitchFamily="2" charset="2"/>
              <a:buChar char="§"/>
            </a:pPr>
            <a:endParaRPr lang="en-IN" sz="1800" dirty="0" smtClean="0"/>
          </a:p>
          <a:p>
            <a:pPr marL="268288" indent="-174625">
              <a:buFont typeface="Wingdings" panose="05000000000000000000" pitchFamily="2" charset="2"/>
              <a:buChar char="§"/>
            </a:pPr>
            <a:r>
              <a:rPr lang="en-IN" sz="1800" dirty="0" smtClean="0"/>
              <a:t>When CLK is removed, state of Flip-flop is indeterminate,ie, either state may result.</a:t>
            </a:r>
          </a:p>
          <a:p>
            <a:pPr marL="268288" indent="-174625">
              <a:buFont typeface="Wingdings" panose="05000000000000000000" pitchFamily="2" charset="2"/>
              <a:buChar char="§"/>
            </a:pPr>
            <a:endParaRPr lang="en-IN" sz="1800" dirty="0" smtClean="0"/>
          </a:p>
          <a:p>
            <a:pPr marL="268288" indent="-174625">
              <a:buFont typeface="Wingdings" panose="05000000000000000000" pitchFamily="2" charset="2"/>
              <a:buChar char="§"/>
            </a:pPr>
            <a:r>
              <a:rPr lang="en-IN" sz="1800" dirty="0" smtClean="0"/>
              <a:t>When </a:t>
            </a:r>
            <a:r>
              <a:rPr lang="en-IN" sz="1800" dirty="0"/>
              <a:t>both S and R </a:t>
            </a:r>
            <a:r>
              <a:rPr lang="en-IN" sz="1800" dirty="0" smtClean="0"/>
              <a:t>=0, it retains the previous state.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6198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Truth Table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32481" y="3057099"/>
            <a:ext cx="4137573" cy="24927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737360"/>
            <a:ext cx="838791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333333"/>
                </a:solidFill>
                <a:latin typeface="Roboto"/>
              </a:rPr>
              <a:t>The </a:t>
            </a:r>
            <a:r>
              <a:rPr lang="en-IN" dirty="0" err="1">
                <a:solidFill>
                  <a:srgbClr val="333333"/>
                </a:solidFill>
                <a:latin typeface="Roboto"/>
              </a:rPr>
              <a:t>Qn</a:t>
            </a:r>
            <a:r>
              <a:rPr lang="en-IN" dirty="0">
                <a:solidFill>
                  <a:srgbClr val="333333"/>
                </a:solidFill>
                <a:latin typeface="Roboto"/>
              </a:rPr>
              <a:t> represents the state of the SR flip-flop </a:t>
            </a:r>
            <a:r>
              <a:rPr lang="en-IN" dirty="0" smtClean="0">
                <a:solidFill>
                  <a:srgbClr val="333333"/>
                </a:solidFill>
                <a:latin typeface="Roboto"/>
              </a:rPr>
              <a:t>before applying </a:t>
            </a:r>
            <a:r>
              <a:rPr lang="en-IN" dirty="0">
                <a:solidFill>
                  <a:srgbClr val="333333"/>
                </a:solidFill>
                <a:latin typeface="Roboto"/>
              </a:rPr>
              <a:t>the </a:t>
            </a:r>
            <a:r>
              <a:rPr lang="en-IN" dirty="0" smtClean="0">
                <a:solidFill>
                  <a:srgbClr val="333333"/>
                </a:solidFill>
                <a:latin typeface="Roboto"/>
              </a:rPr>
              <a:t>inputs</a:t>
            </a:r>
            <a:endParaRPr lang="en-IN" dirty="0">
              <a:solidFill>
                <a:srgbClr val="333333"/>
              </a:solidFill>
              <a:latin typeface="Roboto"/>
            </a:endParaRPr>
          </a:p>
          <a:p>
            <a:endParaRPr lang="en-IN" dirty="0" smtClean="0">
              <a:solidFill>
                <a:srgbClr val="333333"/>
              </a:solidFill>
              <a:latin typeface="Roboto"/>
            </a:endParaRPr>
          </a:p>
          <a:p>
            <a:r>
              <a:rPr lang="en-IN" dirty="0" smtClean="0">
                <a:solidFill>
                  <a:srgbClr val="333333"/>
                </a:solidFill>
                <a:latin typeface="Roboto"/>
              </a:rPr>
              <a:t> </a:t>
            </a:r>
            <a:r>
              <a:rPr lang="en-IN" dirty="0">
                <a:solidFill>
                  <a:srgbClr val="333333"/>
                </a:solidFill>
                <a:latin typeface="Roboto"/>
              </a:rPr>
              <a:t>Q</a:t>
            </a:r>
            <a:r>
              <a:rPr lang="en-IN" baseline="-25000" dirty="0">
                <a:solidFill>
                  <a:srgbClr val="333333"/>
                </a:solidFill>
                <a:latin typeface="Roboto"/>
              </a:rPr>
              <a:t>n+1</a:t>
            </a:r>
            <a:r>
              <a:rPr lang="en-IN" dirty="0">
                <a:solidFill>
                  <a:srgbClr val="333333"/>
                </a:solidFill>
                <a:latin typeface="Roboto"/>
              </a:rPr>
              <a:t> represents the state of the SR flip-flop as </a:t>
            </a:r>
            <a:r>
              <a:rPr lang="en-IN" dirty="0" smtClean="0">
                <a:solidFill>
                  <a:srgbClr val="333333"/>
                </a:solidFill>
                <a:latin typeface="Roboto"/>
              </a:rPr>
              <a:t>output</a:t>
            </a:r>
          </a:p>
          <a:p>
            <a:endParaRPr lang="en-IN" dirty="0">
              <a:solidFill>
                <a:srgbClr val="333333"/>
              </a:solidFill>
              <a:latin typeface="Roboto"/>
            </a:endParaRPr>
          </a:p>
          <a:p>
            <a:r>
              <a:rPr lang="en-IN" dirty="0" smtClean="0"/>
              <a:t> </a:t>
            </a:r>
            <a:r>
              <a:rPr lang="en-IN" dirty="0">
                <a:solidFill>
                  <a:srgbClr val="333333"/>
                </a:solidFill>
                <a:latin typeface="Roboto"/>
              </a:rPr>
              <a:t>Now</a:t>
            </a:r>
            <a:r>
              <a:rPr lang="en-IN" dirty="0" smtClean="0"/>
              <a:t> </a:t>
            </a:r>
            <a:r>
              <a:rPr lang="en-IN" dirty="0"/>
              <a:t>if CLK is 0 </a:t>
            </a:r>
            <a:r>
              <a:rPr lang="en-IN" dirty="0" smtClean="0"/>
              <a:t> </a:t>
            </a:r>
            <a:r>
              <a:rPr lang="en-IN" dirty="0">
                <a:solidFill>
                  <a:srgbClr val="333333"/>
                </a:solidFill>
                <a:latin typeface="Roboto"/>
              </a:rPr>
              <a:t>irrespective</a:t>
            </a:r>
            <a:r>
              <a:rPr lang="en-IN" dirty="0" smtClean="0"/>
              <a:t> </a:t>
            </a:r>
            <a:r>
              <a:rPr lang="en-IN" dirty="0">
                <a:solidFill>
                  <a:srgbClr val="333333"/>
                </a:solidFill>
                <a:latin typeface="Roboto"/>
              </a:rPr>
              <a:t>of S &amp; R circuit retains previous state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25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63065"/>
          </a:xfrm>
        </p:spPr>
        <p:txBody>
          <a:bodyPr/>
          <a:lstStyle/>
          <a:p>
            <a:r>
              <a:rPr lang="en-IN" dirty="0" smtClean="0"/>
              <a:t>                        Characteristic Table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Characteristics </a:t>
            </a:r>
            <a:r>
              <a:rPr lang="en-IN" dirty="0"/>
              <a:t>table is determined by the truth table of any </a:t>
            </a:r>
            <a:r>
              <a:rPr lang="en-IN" dirty="0" smtClean="0"/>
              <a:t>circuit.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</a:t>
            </a:r>
            <a:r>
              <a:rPr lang="en-IN" dirty="0" smtClean="0"/>
              <a:t>t </a:t>
            </a:r>
            <a:r>
              <a:rPr lang="en-IN" dirty="0"/>
              <a:t>basically takes </a:t>
            </a:r>
            <a:r>
              <a:rPr lang="en-IN" dirty="0" err="1"/>
              <a:t>Q</a:t>
            </a:r>
            <a:r>
              <a:rPr lang="en-IN" baseline="-25000" dirty="0" err="1"/>
              <a:t>n</a:t>
            </a:r>
            <a:r>
              <a:rPr lang="en-IN" dirty="0"/>
              <a:t>, S and R as its inputs and Q</a:t>
            </a:r>
            <a:r>
              <a:rPr lang="en-IN" baseline="-25000" dirty="0"/>
              <a:t>n+1</a:t>
            </a:r>
            <a:r>
              <a:rPr lang="en-IN" dirty="0"/>
              <a:t> as output</a:t>
            </a:r>
            <a:r>
              <a:rPr lang="en-IN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Q</a:t>
            </a:r>
            <a:r>
              <a:rPr lang="en-IN" baseline="-25000" dirty="0" smtClean="0"/>
              <a:t>n+1</a:t>
            </a:r>
            <a:r>
              <a:rPr lang="en-IN" dirty="0"/>
              <a:t> represents the next state while </a:t>
            </a:r>
            <a:r>
              <a:rPr lang="en-IN" dirty="0" err="1"/>
              <a:t>Q</a:t>
            </a:r>
            <a:r>
              <a:rPr lang="en-IN" baseline="-25000" dirty="0" err="1"/>
              <a:t>n</a:t>
            </a:r>
            <a:r>
              <a:rPr lang="en-IN" dirty="0"/>
              <a:t> represents the present state</a:t>
            </a:r>
            <a:r>
              <a:rPr lang="en-IN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 While </a:t>
            </a:r>
            <a:r>
              <a:rPr lang="en-IN" dirty="0"/>
              <a:t>dealing with the characteristics table, the </a:t>
            </a:r>
            <a:r>
              <a:rPr lang="en-IN" dirty="0" smtClean="0"/>
              <a:t>clock </a:t>
            </a:r>
            <a:r>
              <a:rPr lang="en-IN" dirty="0"/>
              <a:t>is high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for </a:t>
            </a:r>
            <a:r>
              <a:rPr lang="en-IN" dirty="0"/>
              <a:t>all cases </a:t>
            </a:r>
            <a:r>
              <a:rPr lang="en-IN" dirty="0" err="1"/>
              <a:t>i.e</a:t>
            </a:r>
            <a:r>
              <a:rPr lang="en-IN" dirty="0"/>
              <a:t> CLK=1.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                                                                                                                                      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102" y="3037753"/>
            <a:ext cx="3721255" cy="283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21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Characteristic Equation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 The </a:t>
            </a:r>
            <a:r>
              <a:rPr lang="en-IN" dirty="0"/>
              <a:t>characteristic equation is an algebraic expression for the characteristic table's binary information</a:t>
            </a:r>
            <a:r>
              <a:rPr lang="en-IN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 </a:t>
            </a:r>
            <a:r>
              <a:rPr lang="en-IN" dirty="0"/>
              <a:t>It specifies the value of the next state of a flip-flop in terms of its present state and present excitation</a:t>
            </a:r>
            <a:r>
              <a:rPr lang="en-IN" dirty="0" smtClean="0"/>
              <a:t>.(S &amp; R Values)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 The </a:t>
            </a:r>
            <a:r>
              <a:rPr lang="en-IN" dirty="0"/>
              <a:t>K-map for the next state Qn+1 in terms of present state and inputs </a:t>
            </a:r>
            <a:r>
              <a:rPr lang="en-IN" dirty="0" smtClean="0"/>
              <a:t>is given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548" y="3857414"/>
            <a:ext cx="4229100" cy="15335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54675" y="5499762"/>
            <a:ext cx="181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303030"/>
                </a:solidFill>
                <a:latin typeface="Arimo" panose="020B0604020202020204" charset="0"/>
              </a:rPr>
              <a:t>Q</a:t>
            </a:r>
            <a:r>
              <a:rPr lang="en-IN" b="1" baseline="-25000" dirty="0">
                <a:solidFill>
                  <a:srgbClr val="303030"/>
                </a:solidFill>
                <a:latin typeface="Arimo" panose="020B0604020202020204" charset="0"/>
              </a:rPr>
              <a:t>n+1</a:t>
            </a:r>
            <a:r>
              <a:rPr lang="en-IN" b="1" dirty="0">
                <a:solidFill>
                  <a:srgbClr val="303030"/>
                </a:solidFill>
                <a:latin typeface="Arimo" panose="020B0604020202020204" charset="0"/>
              </a:rPr>
              <a:t> = S + </a:t>
            </a:r>
            <a:r>
              <a:rPr lang="en-IN" b="1" dirty="0" err="1">
                <a:solidFill>
                  <a:srgbClr val="303030"/>
                </a:solidFill>
                <a:latin typeface="Arimo" panose="020B0604020202020204" charset="0"/>
              </a:rPr>
              <a:t>Q</a:t>
            </a:r>
            <a:r>
              <a:rPr lang="en-IN" b="1" baseline="-25000" dirty="0" err="1">
                <a:solidFill>
                  <a:srgbClr val="303030"/>
                </a:solidFill>
                <a:latin typeface="Arimo" panose="020B0604020202020204" charset="0"/>
              </a:rPr>
              <a:t>n</a:t>
            </a:r>
            <a:r>
              <a:rPr lang="en-IN" b="1" dirty="0" err="1">
                <a:solidFill>
                  <a:srgbClr val="303030"/>
                </a:solidFill>
                <a:latin typeface="Arimo" panose="020B0604020202020204" charset="0"/>
              </a:rPr>
              <a:t>R</a:t>
            </a:r>
            <a:r>
              <a:rPr lang="en-IN" b="1" dirty="0">
                <a:solidFill>
                  <a:srgbClr val="303030"/>
                </a:solidFill>
                <a:latin typeface="Arimo" panose="020B0604020202020204" charset="0"/>
              </a:rPr>
              <a:t>’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96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SR </a:t>
            </a:r>
            <a:r>
              <a:rPr lang="en-US" b="1" dirty="0"/>
              <a:t>or RS Flip Flop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  The same can be achieved by using NOR gates.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N</a:t>
            </a:r>
            <a:r>
              <a:rPr lang="en-IN" dirty="0" smtClean="0"/>
              <a:t>ot </a:t>
            </a:r>
            <a:r>
              <a:rPr lang="en-IN" dirty="0"/>
              <a:t>widely used in practical circuits because of </a:t>
            </a:r>
            <a:r>
              <a:rPr lang="en-IN" dirty="0" smtClean="0"/>
              <a:t>their indeterminate state.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652" y="2728072"/>
            <a:ext cx="4286250" cy="23431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800" y="2728072"/>
            <a:ext cx="17335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2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                        D flip Flop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 Designed to eliminate undesirable condition of indeterminate state in S-R </a:t>
            </a:r>
            <a:r>
              <a:rPr lang="en-IN" dirty="0" err="1" smtClean="0"/>
              <a:t>Flipflop</a:t>
            </a:r>
            <a:r>
              <a:rPr lang="en-IN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The D-type flip flop </a:t>
            </a:r>
            <a:r>
              <a:rPr lang="en-IN" dirty="0" smtClean="0"/>
              <a:t>is  </a:t>
            </a:r>
            <a:r>
              <a:rPr lang="en-IN" dirty="0"/>
              <a:t>constructed from a </a:t>
            </a:r>
            <a:r>
              <a:rPr lang="en-IN" dirty="0" smtClean="0"/>
              <a:t>SR </a:t>
            </a:r>
            <a:r>
              <a:rPr lang="en-IN" dirty="0"/>
              <a:t>flip-flop with an </a:t>
            </a:r>
            <a:r>
              <a:rPr lang="en-IN" dirty="0" smtClean="0"/>
              <a:t>inverter(NOT gate) </a:t>
            </a:r>
            <a:r>
              <a:rPr lang="en-IN" dirty="0"/>
              <a:t>added between the S and the </a:t>
            </a:r>
            <a:r>
              <a:rPr lang="en-IN" dirty="0" smtClean="0"/>
              <a:t>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There will be a single input D which goes directly to S input.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 It </a:t>
            </a:r>
            <a:r>
              <a:rPr lang="en-IN" dirty="0"/>
              <a:t>ensures that inputs S and R are never equal to one at the same </a:t>
            </a:r>
            <a:r>
              <a:rPr lang="en-IN" dirty="0" smtClean="0"/>
              <a:t>time, avoiding indeterminate state.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441" y="3764615"/>
            <a:ext cx="4545947" cy="20281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67083" y="416858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567083" y="5608136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777318" y="4192779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710083" y="5499762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023" y="3949281"/>
            <a:ext cx="1933575" cy="20478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299" y="4192779"/>
            <a:ext cx="2112309" cy="182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2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 flip Flop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long as the CP input remains at o, the outputs of NAND gates 3 and 4 stay at logic 1 level and the circuit cannot change its state regardless of the value of D input</a:t>
            </a:r>
            <a:r>
              <a:rPr lang="en-US" dirty="0" smtClean="0"/>
              <a:t>.</a:t>
            </a:r>
          </a:p>
          <a:p>
            <a:r>
              <a:rPr lang="en-US" dirty="0"/>
              <a:t>The D input is sampled when clock pulse </a:t>
            </a:r>
            <a:r>
              <a:rPr lang="en-US" dirty="0" err="1"/>
              <a:t>Cp</a:t>
            </a:r>
            <a:r>
              <a:rPr lang="en-US" dirty="0"/>
              <a:t>=1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D=1, the Q output goes to 1, placing the circuit in set state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If D=0 Q output goes to 0, placing the circuit in reset state.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129" y="2977143"/>
            <a:ext cx="2574271" cy="17605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876" y="4204150"/>
            <a:ext cx="2090383" cy="1842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168" y="4409072"/>
            <a:ext cx="3182347" cy="103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44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r>
              <a:rPr lang="en-IN" b="1" dirty="0" smtClean="0"/>
              <a:t>J K Flip flop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  Modification of R-S Flip-flop to redefine the indeterminate state in R-S Flip flop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The </a:t>
            </a:r>
            <a:r>
              <a:rPr lang="en-IN" dirty="0" smtClean="0"/>
              <a:t>behaviour </a:t>
            </a:r>
            <a:r>
              <a:rPr lang="en-IN" dirty="0"/>
              <a:t>of inputs J and K is same as the S and R inputs of the S-R flip flop. </a:t>
            </a: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The </a:t>
            </a:r>
            <a:r>
              <a:rPr lang="en-IN" dirty="0"/>
              <a:t>letter J stands for SET and the letter K stands for </a:t>
            </a:r>
            <a:r>
              <a:rPr lang="en-IN" dirty="0" smtClean="0"/>
              <a:t>RESET/CLEAR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28" y="3335443"/>
            <a:ext cx="4886325" cy="2533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066" y="3618811"/>
            <a:ext cx="3131004" cy="196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6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J K Flip flop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 smtClean="0">
                <a:solidFill>
                  <a:srgbClr val="FF0000"/>
                </a:solidFill>
              </a:rPr>
              <a:t>O/P </a:t>
            </a:r>
            <a:r>
              <a:rPr lang="en-IN" sz="2400" dirty="0" smtClean="0">
                <a:solidFill>
                  <a:srgbClr val="FF0000"/>
                </a:solidFill>
              </a:rPr>
              <a:t>of Q</a:t>
            </a:r>
            <a:r>
              <a:rPr lang="en-IN" sz="2400" dirty="0" smtClean="0"/>
              <a:t> is feedback to the </a:t>
            </a:r>
            <a:r>
              <a:rPr lang="en-IN" sz="2400" dirty="0" smtClean="0">
                <a:solidFill>
                  <a:srgbClr val="FF0000"/>
                </a:solidFill>
              </a:rPr>
              <a:t>input of K </a:t>
            </a:r>
            <a:r>
              <a:rPr lang="en-IN" sz="2400" dirty="0" smtClean="0"/>
              <a:t>along with CP, so that the Flip flop is </a:t>
            </a:r>
            <a:r>
              <a:rPr lang="en-IN" sz="2400" dirty="0" smtClean="0">
                <a:solidFill>
                  <a:srgbClr val="FF0000"/>
                </a:solidFill>
              </a:rPr>
              <a:t>reset</a:t>
            </a:r>
            <a:r>
              <a:rPr lang="en-IN" sz="2400" dirty="0" smtClean="0"/>
              <a:t> only if </a:t>
            </a:r>
            <a:r>
              <a:rPr lang="en-IN" sz="2400" dirty="0" smtClean="0">
                <a:solidFill>
                  <a:srgbClr val="FF0000"/>
                </a:solidFill>
              </a:rPr>
              <a:t>Q was previously </a:t>
            </a:r>
            <a:r>
              <a:rPr lang="en-IN" sz="2400" dirty="0" smtClean="0">
                <a:solidFill>
                  <a:srgbClr val="FF0000"/>
                </a:solidFill>
              </a:rPr>
              <a:t>1.</a:t>
            </a:r>
            <a:endParaRPr lang="en-IN" sz="2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sz="24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 smtClean="0">
                <a:solidFill>
                  <a:srgbClr val="FF0000"/>
                </a:solidFill>
              </a:rPr>
              <a:t> O/p </a:t>
            </a:r>
            <a:r>
              <a:rPr lang="en-IN" sz="2400" dirty="0">
                <a:solidFill>
                  <a:srgbClr val="FF0000"/>
                </a:solidFill>
              </a:rPr>
              <a:t>of </a:t>
            </a:r>
            <a:r>
              <a:rPr lang="en-IN" sz="2400" dirty="0" smtClean="0">
                <a:solidFill>
                  <a:srgbClr val="FF0000"/>
                </a:solidFill>
              </a:rPr>
              <a:t>Q’</a:t>
            </a:r>
            <a:r>
              <a:rPr lang="en-IN" sz="2400" dirty="0" smtClean="0"/>
              <a:t> </a:t>
            </a:r>
            <a:r>
              <a:rPr lang="en-IN" sz="2400" dirty="0"/>
              <a:t>is feedback to the </a:t>
            </a:r>
            <a:r>
              <a:rPr lang="en-IN" sz="2400" dirty="0">
                <a:solidFill>
                  <a:srgbClr val="FF0000"/>
                </a:solidFill>
              </a:rPr>
              <a:t>input of </a:t>
            </a:r>
            <a:r>
              <a:rPr lang="en-IN" sz="2400" dirty="0" smtClean="0">
                <a:solidFill>
                  <a:srgbClr val="FF0000"/>
                </a:solidFill>
              </a:rPr>
              <a:t>J </a:t>
            </a:r>
            <a:r>
              <a:rPr lang="en-IN" sz="2400" dirty="0"/>
              <a:t>along with CP, so that the </a:t>
            </a:r>
            <a:r>
              <a:rPr lang="en-IN" sz="2400" dirty="0">
                <a:solidFill>
                  <a:srgbClr val="FF0000"/>
                </a:solidFill>
              </a:rPr>
              <a:t>Flip flop is </a:t>
            </a:r>
            <a:r>
              <a:rPr lang="en-IN" sz="2400" dirty="0" smtClean="0">
                <a:solidFill>
                  <a:srgbClr val="FF0000"/>
                </a:solidFill>
              </a:rPr>
              <a:t>set </a:t>
            </a:r>
            <a:r>
              <a:rPr lang="en-IN" sz="2400" dirty="0" smtClean="0">
                <a:solidFill>
                  <a:srgbClr val="FF0000"/>
                </a:solidFill>
              </a:rPr>
              <a:t>   </a:t>
            </a:r>
            <a:r>
              <a:rPr lang="en-IN" sz="2400" dirty="0" smtClean="0"/>
              <a:t>only </a:t>
            </a:r>
            <a:r>
              <a:rPr lang="en-IN" sz="2400" dirty="0"/>
              <a:t>if </a:t>
            </a:r>
            <a:r>
              <a:rPr lang="en-IN" sz="2400" dirty="0" smtClean="0">
                <a:solidFill>
                  <a:srgbClr val="FF0000"/>
                </a:solidFill>
              </a:rPr>
              <a:t>Q’ </a:t>
            </a:r>
            <a:r>
              <a:rPr lang="en-IN" sz="2400" dirty="0">
                <a:solidFill>
                  <a:srgbClr val="FF0000"/>
                </a:solidFill>
              </a:rPr>
              <a:t>was previously </a:t>
            </a:r>
            <a:r>
              <a:rPr lang="en-IN" sz="2400" dirty="0" smtClean="0">
                <a:solidFill>
                  <a:srgbClr val="FF0000"/>
                </a:solidFill>
              </a:rPr>
              <a:t>1.</a:t>
            </a:r>
          </a:p>
          <a:p>
            <a:pPr marL="0" indent="0">
              <a:buNone/>
            </a:pPr>
            <a:endParaRPr lang="en-IN" sz="24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 </a:t>
            </a:r>
            <a:r>
              <a:rPr lang="en-IN" sz="2400" dirty="0" smtClean="0"/>
              <a:t>It behaves like SR flip flop except when J=K=1.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021" y="3857414"/>
            <a:ext cx="3305814" cy="151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08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J K Flip flop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When both the inputs </a:t>
            </a:r>
            <a:r>
              <a:rPr lang="en-IN" sz="2400" dirty="0">
                <a:solidFill>
                  <a:srgbClr val="FF0000"/>
                </a:solidFill>
              </a:rPr>
              <a:t>J and K </a:t>
            </a:r>
            <a:r>
              <a:rPr lang="en-IN" sz="2400" dirty="0"/>
              <a:t>have a </a:t>
            </a:r>
            <a:r>
              <a:rPr lang="en-IN" sz="2400" dirty="0">
                <a:solidFill>
                  <a:srgbClr val="FF0000"/>
                </a:solidFill>
              </a:rPr>
              <a:t>HIGH state</a:t>
            </a:r>
            <a:r>
              <a:rPr lang="en-IN" sz="2400" dirty="0"/>
              <a:t>, the flip-flop switch to the </a:t>
            </a:r>
            <a:r>
              <a:rPr lang="en-IN" sz="2400" dirty="0">
                <a:solidFill>
                  <a:srgbClr val="FF0000"/>
                </a:solidFill>
              </a:rPr>
              <a:t>complement state</a:t>
            </a:r>
            <a:r>
              <a:rPr lang="en-IN" sz="2400" dirty="0"/>
              <a:t>. So, for a value of </a:t>
            </a:r>
            <a:r>
              <a:rPr lang="en-IN" sz="2400" dirty="0" err="1" smtClean="0"/>
              <a:t>Qn</a:t>
            </a:r>
            <a:r>
              <a:rPr lang="en-IN" sz="2400" dirty="0" smtClean="0"/>
              <a:t> </a:t>
            </a:r>
            <a:r>
              <a:rPr lang="en-IN" sz="2400" dirty="0"/>
              <a:t>= 1, it switches to </a:t>
            </a:r>
            <a:r>
              <a:rPr lang="en-IN" sz="2400" dirty="0" smtClean="0"/>
              <a:t>Qn+1=0 </a:t>
            </a:r>
            <a:r>
              <a:rPr lang="en-IN" sz="2400" dirty="0"/>
              <a:t>and for a value of </a:t>
            </a:r>
            <a:r>
              <a:rPr lang="en-IN" sz="2400" dirty="0" err="1" smtClean="0"/>
              <a:t>Qn</a:t>
            </a:r>
            <a:r>
              <a:rPr lang="en-IN" sz="2400" dirty="0" smtClean="0"/>
              <a:t> </a:t>
            </a:r>
            <a:r>
              <a:rPr lang="en-IN" sz="2400" dirty="0"/>
              <a:t>= 0, it switches to </a:t>
            </a:r>
            <a:r>
              <a:rPr lang="en-IN" sz="2400" dirty="0" smtClean="0"/>
              <a:t>Qn+1=1</a:t>
            </a:r>
            <a:r>
              <a:rPr lang="en-IN" sz="24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When both J=K=0, it retains the previous state.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76" y="3716914"/>
            <a:ext cx="3000375" cy="1724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834" y="5772680"/>
            <a:ext cx="1962150" cy="4095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328" y="2962706"/>
            <a:ext cx="2558763" cy="294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0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 Flip flop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IN" dirty="0" smtClean="0"/>
              <a:t>Simpler </a:t>
            </a:r>
            <a:r>
              <a:rPr lang="en-IN" dirty="0"/>
              <a:t>version of the J-K flip flop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Both the J and K inputs are connected together and thus are also called a single input J-K flip 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  flop.</a:t>
            </a:r>
          </a:p>
          <a:p>
            <a:pPr marL="0" indent="0">
              <a:buNone/>
            </a:pP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 When clock pulse is given to the flip flop, the output begins to </a:t>
            </a:r>
            <a:r>
              <a:rPr lang="en-IN" dirty="0" smtClean="0"/>
              <a:t>toggle, when T=1.</a:t>
            </a:r>
          </a:p>
          <a:p>
            <a:pPr marL="0" indent="0">
              <a:buNone/>
            </a:pPr>
            <a:endParaRPr lang="en-IN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IN" dirty="0" smtClean="0"/>
              <a:t>When T=0, it retains the previous state, provided clock is high.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885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 Flip flop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746" y="2643366"/>
            <a:ext cx="5457825" cy="2895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519" y="2394238"/>
            <a:ext cx="298132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04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 Flip flop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46474"/>
            <a:ext cx="3113777" cy="17500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20" y="3947579"/>
            <a:ext cx="2656862" cy="21400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907075"/>
            <a:ext cx="3695700" cy="24288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2989" y="5017626"/>
            <a:ext cx="3270398" cy="5450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1057" y="5105493"/>
            <a:ext cx="2449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/>
              <a:t>Characteristic Equation:</a:t>
            </a:r>
            <a:endParaRPr lang="en-IN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923301" y="4307456"/>
            <a:ext cx="2157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/>
              <a:t>Characteristic Table 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59454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Registers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955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 smtClean="0"/>
              <a:t>  </a:t>
            </a:r>
            <a:r>
              <a:rPr lang="en-US" dirty="0" smtClean="0"/>
              <a:t>groups </a:t>
            </a:r>
            <a:r>
              <a:rPr lang="en-US" dirty="0"/>
              <a:t>of flip-flops, where each flip-flop is capable of storing one bit of </a:t>
            </a:r>
            <a:r>
              <a:rPr lang="en-US" dirty="0" smtClean="0"/>
              <a:t>information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/>
              <a:t>An </a:t>
            </a:r>
            <a:r>
              <a:rPr lang="en-US" i="1" dirty="0"/>
              <a:t>n</a:t>
            </a:r>
            <a:r>
              <a:rPr lang="en-US" dirty="0"/>
              <a:t>-bit register is a group of </a:t>
            </a:r>
            <a:r>
              <a:rPr lang="en-US" i="1" dirty="0"/>
              <a:t>n</a:t>
            </a:r>
            <a:r>
              <a:rPr lang="en-US" dirty="0"/>
              <a:t> flip-flops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/>
              <a:t>store data words of n bit with typical word lengths of </a:t>
            </a:r>
            <a:r>
              <a:rPr lang="en-US" dirty="0" smtClean="0"/>
              <a:t> </a:t>
            </a:r>
            <a:r>
              <a:rPr lang="en-US" dirty="0"/>
              <a:t>8, 16, 32 or </a:t>
            </a:r>
            <a:r>
              <a:rPr lang="en-US" dirty="0" smtClean="0"/>
              <a:t>64 </a:t>
            </a:r>
            <a:r>
              <a:rPr lang="en-US" dirty="0"/>
              <a:t>bit.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/>
              <a:t>Since each flip-flop is capable of storing either a "0" or a "1", there is a finite number of 0-1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combinations </a:t>
            </a:r>
            <a:r>
              <a:rPr lang="en-US" dirty="0"/>
              <a:t>that can be stored into a register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/>
              <a:t>Registers are synchronous circuits thus all flip-flops are controlled by a common clock 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6826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Shift Register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25774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1103</TotalTime>
  <Words>1458</Words>
  <Application>Microsoft Office PowerPoint</Application>
  <PresentationFormat>Widescreen</PresentationFormat>
  <Paragraphs>228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Arimo</vt:lpstr>
      <vt:lpstr>Calibri</vt:lpstr>
      <vt:lpstr>Calibri Light</vt:lpstr>
      <vt:lpstr>Candara</vt:lpstr>
      <vt:lpstr>Roboto</vt:lpstr>
      <vt:lpstr>TimesTenLTStd-Roman</vt:lpstr>
      <vt:lpstr>Wingdings</vt:lpstr>
      <vt:lpstr>Retrospect</vt:lpstr>
      <vt:lpstr>                           Sequential circuit - Clocking, Flip flops - SR – JK- D -T flip flops, Counters - Synchronous and asynchronous counters - UP/DOWN counters , Registers - Serial in serial out - Serial in parallel out - Parallel in serial out - Parallel in parallel out registers </vt:lpstr>
      <vt:lpstr>Sequential Circuits</vt:lpstr>
      <vt:lpstr>Sequential Circuits</vt:lpstr>
      <vt:lpstr>Sequential Circuits</vt:lpstr>
      <vt:lpstr>                         FLIP FLOP</vt:lpstr>
      <vt:lpstr>LATCHES</vt:lpstr>
      <vt:lpstr>SR LATCH -NOR Gates</vt:lpstr>
      <vt:lpstr> SR LATCH</vt:lpstr>
      <vt:lpstr> SR LATCH- NAND Gates</vt:lpstr>
      <vt:lpstr> SR LATCH-NAND GATE</vt:lpstr>
      <vt:lpstr>Flip-Flop Introduction</vt:lpstr>
      <vt:lpstr>Flip-Flop Introduction</vt:lpstr>
      <vt:lpstr>                  FLIP-FLOP Types </vt:lpstr>
      <vt:lpstr>         SR or RS Flip Flop </vt:lpstr>
      <vt:lpstr>              SR or RS Flip Flop </vt:lpstr>
      <vt:lpstr>         SR or RS Flip Flop </vt:lpstr>
      <vt:lpstr>Truth Table</vt:lpstr>
      <vt:lpstr>                        Characteristic Table</vt:lpstr>
      <vt:lpstr>Characteristic Equation</vt:lpstr>
      <vt:lpstr>              SR or RS Flip Flop </vt:lpstr>
      <vt:lpstr>                        D flip Flop</vt:lpstr>
      <vt:lpstr>D flip Flop</vt:lpstr>
      <vt:lpstr> J K Flip flop</vt:lpstr>
      <vt:lpstr>J K Flip flop</vt:lpstr>
      <vt:lpstr>J K Flip flop</vt:lpstr>
      <vt:lpstr>T Flip flop</vt:lpstr>
      <vt:lpstr>T Flip flop</vt:lpstr>
      <vt:lpstr>T Flip flop</vt:lpstr>
      <vt:lpstr>Registers</vt:lpstr>
      <vt:lpstr>Introduction</vt:lpstr>
      <vt:lpstr>Shift Register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 FLOP</dc:title>
  <dc:creator>Anish</dc:creator>
  <cp:lastModifiedBy>Anish</cp:lastModifiedBy>
  <cp:revision>92</cp:revision>
  <dcterms:created xsi:type="dcterms:W3CDTF">2021-02-18T17:47:50Z</dcterms:created>
  <dcterms:modified xsi:type="dcterms:W3CDTF">2023-01-17T03:27:09Z</dcterms:modified>
</cp:coreProperties>
</file>